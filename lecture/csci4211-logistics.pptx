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82" r:id="rId3"/>
    <p:sldId id="288" r:id="rId4"/>
    <p:sldId id="309" r:id="rId5"/>
    <p:sldId id="310" r:id="rId6"/>
    <p:sldId id="260" r:id="rId7"/>
    <p:sldId id="259" r:id="rId8"/>
    <p:sldId id="276" r:id="rId9"/>
    <p:sldId id="294" r:id="rId10"/>
    <p:sldId id="286" r:id="rId11"/>
    <p:sldId id="261" r:id="rId12"/>
    <p:sldId id="304" r:id="rId13"/>
    <p:sldId id="305" r:id="rId14"/>
    <p:sldId id="283" r:id="rId15"/>
    <p:sldId id="284" r:id="rId16"/>
    <p:sldId id="287" r:id="rId17"/>
    <p:sldId id="300" r:id="rId18"/>
    <p:sldId id="301" r:id="rId19"/>
    <p:sldId id="302" r:id="rId20"/>
    <p:sldId id="281" r:id="rId21"/>
    <p:sldId id="279" r:id="rId22"/>
    <p:sldId id="303" r:id="rId23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0066"/>
    <a:srgbClr val="6600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95"/>
    <p:restoredTop sz="91445"/>
  </p:normalViewPr>
  <p:slideViewPr>
    <p:cSldViewPr>
      <p:cViewPr varScale="1">
        <p:scale>
          <a:sx n="113" d="100"/>
          <a:sy n="113" d="100"/>
        </p:scale>
        <p:origin x="84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371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37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20150"/>
            <a:ext cx="303371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32C74CD1-CEBC-1E4E-8A1C-CCFCBC6917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509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37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371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0075"/>
            <a:ext cx="5130800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37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20150"/>
            <a:ext cx="303371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D6BAC7E-ACF4-5942-9B01-818388B681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86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F3BFB27-BECE-0643-BA07-5288C3C001C8}" type="slidenum">
              <a:rPr lang="en-US" sz="1200"/>
              <a:pPr/>
              <a:t>1</a:t>
            </a:fld>
            <a:endParaRPr lang="en-US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940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54EBD05-745A-294E-9E1F-D09CA4B24D06}" type="slidenum">
              <a:rPr lang="en-US" sz="1200"/>
              <a:pPr/>
              <a:t>2</a:t>
            </a:fld>
            <a:endParaRPr lang="en-US" sz="120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404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3E150787-B4B8-3746-BD87-FA27C8D18A9C}" type="slidenum">
              <a:rPr lang="en-US" sz="1200"/>
              <a:pPr/>
              <a:t>3</a:t>
            </a:fld>
            <a:endParaRPr lang="en-US" sz="12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225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3E150787-B4B8-3746-BD87-FA27C8D18A9C}" type="slidenum">
              <a:rPr lang="en-US" sz="1200"/>
              <a:pPr/>
              <a:t>4</a:t>
            </a:fld>
            <a:endParaRPr lang="en-US" sz="12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116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3E150787-B4B8-3746-BD87-FA27C8D18A9C}" type="slidenum">
              <a:rPr lang="en-US" sz="1200"/>
              <a:pPr/>
              <a:t>5</a:t>
            </a:fld>
            <a:endParaRPr lang="en-US" sz="12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62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1D0C42F-ED95-8E42-9B83-19C11BA77D6C}" type="slidenum">
              <a:rPr lang="en-US" sz="1200"/>
              <a:pPr/>
              <a:t>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7055873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0855849F-01AB-3C4D-977F-7133A0EF5EF5}" type="slidenum">
              <a:rPr lang="en-US" sz="1200"/>
              <a:pPr/>
              <a:t>7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550344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40A3DBE-0D0A-0447-A106-F4BA80B92B32}" type="slidenum">
              <a:rPr lang="en-US" sz="1200"/>
              <a:pPr/>
              <a:t>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6431049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55725" y="892175"/>
            <a:ext cx="4284663" cy="3213100"/>
          </a:xfrm>
          <a:ln/>
        </p:spPr>
      </p:sp>
      <p:sp>
        <p:nvSpPr>
          <p:cNvPr id="327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82675" y="4416425"/>
            <a:ext cx="4835525" cy="3567113"/>
          </a:xfrm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>
              <a:latin typeface="Times New Roman" charset="0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679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EB1E47A9-F99C-364D-9EC7-0A7D8A03B98D}" type="slidenum">
              <a:rPr lang="en-US" sz="1200"/>
              <a:pPr/>
              <a:t>10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5598505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1BC774E-3A5E-F144-8683-BABCB10B4A14}" type="slidenum">
              <a:rPr lang="en-US" sz="1200"/>
              <a:pPr/>
              <a:t>11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6659760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AEB287B-598C-4E4F-8D5E-9DA0EEAD5D6C}" type="slidenum">
              <a:rPr lang="en-US" sz="1200"/>
              <a:pPr/>
              <a:t>12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517335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55725" y="892175"/>
            <a:ext cx="4284663" cy="3213100"/>
          </a:xfrm>
          <a:ln/>
        </p:spPr>
      </p:sp>
      <p:sp>
        <p:nvSpPr>
          <p:cNvPr id="4096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82675" y="4416425"/>
            <a:ext cx="4835525" cy="3567113"/>
          </a:xfrm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>
              <a:latin typeface="Times New Roman" charset="0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8441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CCE79F2-5BC4-1B48-8E47-9B3767F17CD4}" type="slidenum">
              <a:rPr lang="en-US" sz="1200"/>
              <a:pPr/>
              <a:t>14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88476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25127B8-8E64-6148-BD03-27B1EBE9E82F}" type="slidenum">
              <a:rPr lang="en-US" sz="1200"/>
              <a:pPr/>
              <a:t>15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8240189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FF73A858-A0EC-FC4F-9EA7-BA70F74446D1}" type="slidenum">
              <a:rPr lang="en-US" sz="1200"/>
              <a:pPr/>
              <a:t>16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633497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8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918B9C0-722D-2D46-91BD-B34C1B25E083}" type="slidenum">
              <a:rPr lang="en-GB" altLang="zh-CN" sz="1200">
                <a:solidFill>
                  <a:srgbClr val="000000"/>
                </a:solidFill>
                <a:ea typeface="宋体" charset="0"/>
                <a:cs typeface="宋体" charset="0"/>
              </a:rPr>
              <a:pPr/>
              <a:t>17</a:t>
            </a:fld>
            <a:endParaRPr lang="en-GB" altLang="zh-CN" sz="12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49155" name="Text Box 2"/>
          <p:cNvSpPr txBox="1">
            <a:spLocks noChangeArrowheads="1"/>
          </p:cNvSpPr>
          <p:nvPr/>
        </p:nvSpPr>
        <p:spPr bwMode="auto">
          <a:xfrm>
            <a:off x="1177925" y="696913"/>
            <a:ext cx="4641850" cy="34813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1428" tIns="45715" rIns="91428" bIns="45715" anchor="ctr"/>
          <a:lstStyle>
            <a:lvl1pPr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487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487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487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487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zh-CN" altLang="en-US">
              <a:solidFill>
                <a:schemeClr val="bg1"/>
              </a:solidFill>
              <a:ea typeface="宋体" charset="0"/>
              <a:cs typeface="宋体" charset="0"/>
            </a:endParaRP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/>
          </p:nvPr>
        </p:nvSpPr>
        <p:spPr>
          <a:xfrm>
            <a:off x="933450" y="4410075"/>
            <a:ext cx="5129213" cy="4176713"/>
          </a:xfrm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>
              <a:latin typeface="Times New Roman" charset="0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108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8CC5E39-9300-BB40-A534-DFA20149E85A}" type="slidenum">
              <a:rPr lang="en-GB" altLang="zh-CN" sz="1200">
                <a:solidFill>
                  <a:srgbClr val="000000"/>
                </a:solidFill>
                <a:ea typeface="宋体" charset="0"/>
                <a:cs typeface="宋体" charset="0"/>
              </a:rPr>
              <a:pPr/>
              <a:t>18</a:t>
            </a:fld>
            <a:endParaRPr lang="en-GB" altLang="zh-CN" sz="12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1177925" y="696913"/>
            <a:ext cx="4641850" cy="34813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1428" tIns="45715" rIns="91428" bIns="45715" anchor="ctr"/>
          <a:lstStyle>
            <a:lvl1pPr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487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487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487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487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zh-CN" altLang="en-US">
              <a:solidFill>
                <a:schemeClr val="bg1"/>
              </a:solidFill>
              <a:ea typeface="宋体" charset="0"/>
              <a:cs typeface="宋体" charset="0"/>
            </a:endParaRP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/>
          </p:nvPr>
        </p:nvSpPr>
        <p:spPr>
          <a:xfrm>
            <a:off x="933450" y="4410075"/>
            <a:ext cx="5129213" cy="4176713"/>
          </a:xfrm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>
              <a:latin typeface="Times New Roman" charset="0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7606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8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457200"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2813" algn="l"/>
                <a:tab pos="1371600" algn="l"/>
                <a:tab pos="1827213" algn="l"/>
                <a:tab pos="2284413" algn="l"/>
                <a:tab pos="2743200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3625" algn="l"/>
                <a:tab pos="9142413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FBAAB0E-D8F1-3745-93D0-A6B17A16C3D6}" type="slidenum">
              <a:rPr lang="en-GB" altLang="zh-CN" sz="1200">
                <a:solidFill>
                  <a:srgbClr val="000000"/>
                </a:solidFill>
                <a:ea typeface="宋体" charset="0"/>
                <a:cs typeface="宋体" charset="0"/>
              </a:rPr>
              <a:pPr/>
              <a:t>19</a:t>
            </a:fld>
            <a:endParaRPr lang="en-GB" altLang="zh-CN" sz="1200">
              <a:solidFill>
                <a:srgbClr val="000000"/>
              </a:solidFill>
              <a:ea typeface="宋体" charset="0"/>
              <a:cs typeface="宋体" charset="0"/>
            </a:endParaRP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1177925" y="696913"/>
            <a:ext cx="4641850" cy="34813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1428" tIns="45715" rIns="91428" bIns="45715" anchor="ctr"/>
          <a:lstStyle>
            <a:lvl1pPr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48736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487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487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487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4873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endParaRPr lang="zh-CN" altLang="en-US">
              <a:solidFill>
                <a:schemeClr val="bg1"/>
              </a:solidFill>
              <a:ea typeface="宋体" charset="0"/>
              <a:cs typeface="宋体" charset="0"/>
            </a:endParaRP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/>
          </p:nvPr>
        </p:nvSpPr>
        <p:spPr>
          <a:xfrm>
            <a:off x="933450" y="4410075"/>
            <a:ext cx="5129213" cy="4176713"/>
          </a:xfrm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>
              <a:latin typeface="Times New Roman" charset="0"/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2829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1C08D8B-9E80-E949-9560-3B3BAB5AAD90}" type="slidenum">
              <a:rPr lang="en-US" sz="1200"/>
              <a:pPr/>
              <a:t>20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336275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9F4E015-BE30-244D-A1D8-E8B2080AD8CB}" type="slidenum">
              <a:rPr lang="en-US" sz="1200"/>
              <a:pPr/>
              <a:t>21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0356712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10BB3BD-3CE9-3440-BC2F-2EAE825F3B2E}" type="slidenum">
              <a:rPr lang="en-US" sz="1200"/>
              <a:pPr/>
              <a:t>22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131372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7F10D-6EB5-F24B-ADFF-EA6D209A8F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2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0E001E-162B-344A-912C-9B4E69E144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51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A6EA7A-2979-8D4B-BF7D-231118A012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97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8DDA0D-1837-924A-976F-0493622728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5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370B8-1A8B-D54E-A174-956ABBA9C3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17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1CD98-F61F-504F-9AE7-9CDA89719C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87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1A25FE-26C2-3547-BA63-2C30A63085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35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FBA32-CFB0-4042-952C-AB404FAE6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380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8FBA4-8690-4844-9C7F-F5592EAA22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7B9093-B459-2642-9D44-92D1AFA01B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A9E280-AE9D-9E44-ACF0-66190215B9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omic Sans MS" charset="0"/>
              </a:defRPr>
            </a:lvl1pPr>
          </a:lstStyle>
          <a:p>
            <a:pPr>
              <a:defRPr/>
            </a:pPr>
            <a:fld id="{40214630-F7F3-1C49-A221-845CAD432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Line 7"/>
          <p:cNvSpPr>
            <a:spLocks noChangeShapeType="1"/>
          </p:cNvSpPr>
          <p:nvPr userDrawn="1"/>
        </p:nvSpPr>
        <p:spPr bwMode="auto">
          <a:xfrm>
            <a:off x="533400" y="6096000"/>
            <a:ext cx="807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Comic Sans MS" pitchFamily="66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Comic Sans MS" pitchFamily="66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Comic Sans MS" pitchFamily="66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Comic Sans MS" pitchFamily="66" charset="0"/>
          <a:ea typeface="ＭＳ Ｐゴシック" charset="0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rgbClr val="000099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99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cselabs.umn.edu/classes/Spring-2020/csci4211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www-users.cselabs.umn.edu/classes/Spring-2020/csci4211/index.php?page=schedule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NULL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15@umn.edu" TargetMode="External"/><Relationship Id="rId4" Type="http://schemas.openxmlformats.org/officeDocument/2006/relationships/hyperlink" Target="mailto:alox049@umn.edu" TargetMode="External"/><Relationship Id="rId5" Type="http://schemas.openxmlformats.org/officeDocument/2006/relationships/hyperlink" Target="mailto:wu000598@umn.edu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1536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9C58991C-F790-CA48-A872-F8CF4B50C541}" type="slidenum">
              <a:rPr lang="en-US" sz="1200">
                <a:latin typeface="Comic Sans MS" charset="0"/>
              </a:rPr>
              <a:pPr/>
              <a:t>1</a:t>
            </a:fld>
            <a:endParaRPr lang="en-US" sz="1200">
              <a:latin typeface="Comic Sans MS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1600200"/>
            <a:ext cx="7772400" cy="1524000"/>
          </a:xfrm>
        </p:spPr>
        <p:txBody>
          <a:bodyPr/>
          <a:lstStyle/>
          <a:p>
            <a:r>
              <a:rPr lang="en-US" i="1">
                <a:latin typeface="Comic Sans MS" charset="0"/>
              </a:rPr>
              <a:t>CSci4211: Introduction to</a:t>
            </a:r>
            <a:br>
              <a:rPr lang="en-US" i="1">
                <a:latin typeface="Comic Sans MS" charset="0"/>
              </a:rPr>
            </a:br>
            <a:r>
              <a:rPr lang="en-US" i="1">
                <a:latin typeface="Comic Sans MS" charset="0"/>
              </a:rPr>
              <a:t>Computer Networks</a:t>
            </a:r>
            <a:endParaRPr lang="en-US">
              <a:latin typeface="Comic Sans MS" charset="0"/>
            </a:endParaRP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762000"/>
            <a:ext cx="6400800" cy="685800"/>
          </a:xfrm>
        </p:spPr>
        <p:txBody>
          <a:bodyPr/>
          <a:lstStyle/>
          <a:p>
            <a:r>
              <a:rPr lang="en-US">
                <a:latin typeface="Comic Sans MS" charset="0"/>
              </a:rPr>
              <a:t>Welcome to </a:t>
            </a: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1828800" y="3505200"/>
            <a:ext cx="594360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b="1" dirty="0">
                <a:solidFill>
                  <a:srgbClr val="000099"/>
                </a:solidFill>
                <a:latin typeface="Comic Sans MS" charset="0"/>
              </a:rPr>
              <a:t>Time: </a:t>
            </a:r>
            <a:r>
              <a:rPr lang="en-US" b="1" dirty="0" smtClean="0">
                <a:solidFill>
                  <a:srgbClr val="000099"/>
                </a:solidFill>
                <a:latin typeface="Comic Sans MS" charset="0"/>
              </a:rPr>
              <a:t>2:30pm </a:t>
            </a:r>
            <a:r>
              <a:rPr lang="en-US" b="1" dirty="0">
                <a:solidFill>
                  <a:srgbClr val="000099"/>
                </a:solidFill>
                <a:latin typeface="Comic Sans MS" charset="0"/>
              </a:rPr>
              <a:t>– </a:t>
            </a:r>
            <a:r>
              <a:rPr lang="en-US" b="1" dirty="0" smtClean="0">
                <a:solidFill>
                  <a:srgbClr val="000099"/>
                </a:solidFill>
                <a:latin typeface="Comic Sans MS" charset="0"/>
              </a:rPr>
              <a:t>3:45pm </a:t>
            </a:r>
            <a:r>
              <a:rPr lang="en-US" b="1" dirty="0">
                <a:solidFill>
                  <a:srgbClr val="000099"/>
                </a:solidFill>
                <a:latin typeface="Comic Sans MS" charset="0"/>
              </a:rPr>
              <a:t>MW</a:t>
            </a:r>
          </a:p>
          <a:p>
            <a:r>
              <a:rPr lang="en-US" b="1" dirty="0">
                <a:solidFill>
                  <a:srgbClr val="000099"/>
                </a:solidFill>
                <a:latin typeface="Comic Sans MS" charset="0"/>
              </a:rPr>
              <a:t>Location: </a:t>
            </a:r>
            <a:r>
              <a:rPr lang="en-US" b="1" dirty="0" smtClean="0">
                <a:solidFill>
                  <a:srgbClr val="000099"/>
                </a:solidFill>
                <a:latin typeface="Comic Sans MS" charset="0"/>
              </a:rPr>
              <a:t>Tate </a:t>
            </a:r>
            <a:r>
              <a:rPr lang="en-US" b="1" dirty="0">
                <a:solidFill>
                  <a:srgbClr val="000099"/>
                </a:solidFill>
                <a:latin typeface="Comic Sans MS" charset="0"/>
              </a:rPr>
              <a:t>Hall </a:t>
            </a:r>
            <a:r>
              <a:rPr lang="en-US" b="1" dirty="0" smtClean="0">
                <a:solidFill>
                  <a:srgbClr val="000099"/>
                </a:solidFill>
                <a:latin typeface="Comic Sans MS" charset="0"/>
              </a:rPr>
              <a:t>105  </a:t>
            </a:r>
            <a:endParaRPr lang="en-US" b="1" dirty="0">
              <a:solidFill>
                <a:srgbClr val="000099"/>
              </a:solidFill>
              <a:latin typeface="Comic Sans MS" charset="0"/>
            </a:endParaRPr>
          </a:p>
          <a:p>
            <a:r>
              <a:rPr lang="en-US" b="1" dirty="0">
                <a:solidFill>
                  <a:srgbClr val="000099"/>
                </a:solidFill>
                <a:latin typeface="Comic Sans MS" charset="0"/>
              </a:rPr>
              <a:t>Spring </a:t>
            </a:r>
            <a:r>
              <a:rPr lang="en-US" b="1" dirty="0" smtClean="0">
                <a:solidFill>
                  <a:srgbClr val="000099"/>
                </a:solidFill>
                <a:latin typeface="Comic Sans MS" charset="0"/>
              </a:rPr>
              <a:t>2020  </a:t>
            </a:r>
            <a:r>
              <a:rPr lang="en-US" b="1" dirty="0">
                <a:solidFill>
                  <a:srgbClr val="000099"/>
                </a:solidFill>
                <a:latin typeface="Comic Sans MS" charset="0"/>
              </a:rPr>
              <a:t>3 credit</a:t>
            </a:r>
          </a:p>
          <a:p>
            <a:endParaRPr lang="en-US" b="1" dirty="0">
              <a:solidFill>
                <a:srgbClr val="000099"/>
              </a:solidFill>
              <a:latin typeface="Comic Sans MS" charset="0"/>
            </a:endParaRPr>
          </a:p>
          <a:p>
            <a:endParaRPr lang="en-US" b="1" dirty="0">
              <a:solidFill>
                <a:srgbClr val="000099"/>
              </a:solidFill>
              <a:latin typeface="Comic Sans M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1741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9B73A70-E176-D546-A032-DFBBCD2515CE}" type="slidenum">
              <a:rPr lang="en-US" sz="1200">
                <a:latin typeface="Comic Sans MS" charset="0"/>
              </a:rPr>
              <a:pPr/>
              <a:t>2</a:t>
            </a:fld>
            <a:endParaRPr lang="en-US" sz="1200">
              <a:latin typeface="Comic Sans MS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i="1">
                <a:latin typeface="Comic Sans MS" charset="0"/>
              </a:rPr>
              <a:t>Who Are We </a:t>
            </a:r>
            <a:endParaRPr lang="en-US">
              <a:latin typeface="Comic Sans MS" charset="0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762000" y="914400"/>
            <a:ext cx="7924800" cy="524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defRPr/>
            </a:pPr>
            <a:r>
              <a:rPr lang="en-US" sz="2800" b="1" dirty="0">
                <a:solidFill>
                  <a:srgbClr val="000099"/>
                </a:solidFill>
                <a:latin typeface="+mn-lt"/>
              </a:rPr>
              <a:t>Co-Instructor (50%):</a:t>
            </a:r>
          </a:p>
          <a:p>
            <a:pPr>
              <a:defRPr/>
            </a:pPr>
            <a:endParaRPr lang="en-US" sz="2800" b="1" dirty="0">
              <a:solidFill>
                <a:srgbClr val="000099"/>
              </a:solidFill>
              <a:latin typeface="Arial" charset="0"/>
            </a:endParaRPr>
          </a:p>
          <a:p>
            <a:pPr>
              <a:defRPr/>
            </a:pPr>
            <a:r>
              <a:rPr lang="en-US" sz="2800" b="1" dirty="0">
                <a:solidFill>
                  <a:srgbClr val="000099"/>
                </a:solidFill>
                <a:latin typeface="+mn-lt"/>
              </a:rPr>
              <a:t>Zhi-Li Zhang</a:t>
            </a:r>
          </a:p>
          <a:p>
            <a:pPr>
              <a:lnSpc>
                <a:spcPct val="110000"/>
              </a:lnSpc>
              <a:defRPr/>
            </a:pPr>
            <a:r>
              <a:rPr lang="en-US" b="1" dirty="0">
                <a:solidFill>
                  <a:srgbClr val="000099"/>
                </a:solidFill>
                <a:latin typeface="+mn-lt"/>
              </a:rPr>
              <a:t>Professor </a:t>
            </a:r>
          </a:p>
          <a:p>
            <a:pPr>
              <a:lnSpc>
                <a:spcPct val="90000"/>
              </a:lnSpc>
              <a:defRPr/>
            </a:pPr>
            <a:r>
              <a:rPr lang="en-US" b="1" dirty="0">
                <a:solidFill>
                  <a:srgbClr val="000099"/>
                </a:solidFill>
                <a:latin typeface="+mn-lt"/>
              </a:rPr>
              <a:t>Department of Computer Science &amp; Engineering </a:t>
            </a:r>
          </a:p>
          <a:p>
            <a:pPr>
              <a:lnSpc>
                <a:spcPct val="90000"/>
              </a:lnSpc>
              <a:defRPr/>
            </a:pPr>
            <a:r>
              <a:rPr lang="en-US" b="1" dirty="0">
                <a:solidFill>
                  <a:srgbClr val="000099"/>
                </a:solidFill>
                <a:latin typeface="+mn-lt"/>
              </a:rPr>
              <a:t>University of Minnesota</a:t>
            </a:r>
          </a:p>
          <a:p>
            <a:pPr>
              <a:lnSpc>
                <a:spcPct val="90000"/>
              </a:lnSpc>
              <a:defRPr/>
            </a:pPr>
            <a:endParaRPr lang="en-US" b="1" dirty="0">
              <a:solidFill>
                <a:srgbClr val="000099"/>
              </a:solidFill>
              <a:latin typeface="+mn-lt"/>
            </a:endParaRPr>
          </a:p>
          <a:p>
            <a:pPr>
              <a:lnSpc>
                <a:spcPct val="90000"/>
              </a:lnSpc>
              <a:defRPr/>
            </a:pPr>
            <a:r>
              <a:rPr lang="en-US" b="1" dirty="0">
                <a:solidFill>
                  <a:srgbClr val="000099"/>
                </a:solidFill>
                <a:latin typeface="+mn-lt"/>
                <a:cs typeface="Avenir Book" charset="0"/>
              </a:rPr>
              <a:t>Office: Keller Hall 6-187 </a:t>
            </a:r>
          </a:p>
          <a:p>
            <a:pPr>
              <a:lnSpc>
                <a:spcPct val="90000"/>
              </a:lnSpc>
              <a:defRPr/>
            </a:pPr>
            <a:r>
              <a:rPr lang="en-US" b="1" dirty="0">
                <a:solidFill>
                  <a:srgbClr val="000099"/>
                </a:solidFill>
                <a:latin typeface="+mn-lt"/>
                <a:cs typeface="Avenir Book" charset="0"/>
              </a:rPr>
              <a:t>         &amp; </a:t>
            </a:r>
            <a:r>
              <a:rPr lang="en-US" b="1" dirty="0">
                <a:solidFill>
                  <a:srgbClr val="0000FF"/>
                </a:solidFill>
                <a:latin typeface="+mn-lt"/>
                <a:cs typeface="Avenir Book" charset="0"/>
              </a:rPr>
              <a:t>DTC 489 (mostly here!)</a:t>
            </a:r>
          </a:p>
          <a:p>
            <a:pPr>
              <a:lnSpc>
                <a:spcPct val="90000"/>
              </a:lnSpc>
              <a:defRPr/>
            </a:pPr>
            <a:endParaRPr lang="en-US" b="1" dirty="0">
              <a:solidFill>
                <a:srgbClr val="0000FF"/>
              </a:solidFill>
              <a:latin typeface="+mn-lt"/>
              <a:cs typeface="Avenir Book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b="1" dirty="0">
                <a:solidFill>
                  <a:srgbClr val="000099"/>
                </a:solidFill>
                <a:latin typeface="+mn-lt"/>
                <a:cs typeface="Avenir Book" charset="0"/>
              </a:rPr>
              <a:t>Phone 625-8568</a:t>
            </a:r>
          </a:p>
          <a:p>
            <a:pPr>
              <a:lnSpc>
                <a:spcPct val="90000"/>
              </a:lnSpc>
              <a:defRPr/>
            </a:pPr>
            <a:r>
              <a:rPr lang="en-US" b="1" dirty="0">
                <a:solidFill>
                  <a:srgbClr val="000099"/>
                </a:solidFill>
                <a:latin typeface="+mn-lt"/>
                <a:cs typeface="Avenir Book" charset="0"/>
              </a:rPr>
              <a:t>Email: </a:t>
            </a:r>
            <a:r>
              <a:rPr lang="en-US" b="1" dirty="0" err="1">
                <a:solidFill>
                  <a:srgbClr val="000099"/>
                </a:solidFill>
                <a:latin typeface="+mn-lt"/>
                <a:cs typeface="Avenir Book" charset="0"/>
              </a:rPr>
              <a:t>zhzhang@cs.umn.edu</a:t>
            </a:r>
            <a:endParaRPr lang="en-US" b="1" dirty="0">
              <a:solidFill>
                <a:srgbClr val="000099"/>
              </a:solidFill>
              <a:latin typeface="+mn-lt"/>
              <a:cs typeface="Avenir Book" charset="0"/>
            </a:endParaRPr>
          </a:p>
          <a:p>
            <a:pPr>
              <a:lnSpc>
                <a:spcPct val="70000"/>
              </a:lnSpc>
              <a:defRPr/>
            </a:pPr>
            <a:r>
              <a:rPr lang="en-US" b="1" dirty="0">
                <a:solidFill>
                  <a:srgbClr val="000099"/>
                </a:solidFill>
                <a:latin typeface="+mn-lt"/>
                <a:cs typeface="Avenir Book" charset="0"/>
              </a:rPr>
              <a:t>URL http://</a:t>
            </a:r>
            <a:r>
              <a:rPr lang="en-US" b="1" dirty="0" err="1">
                <a:solidFill>
                  <a:srgbClr val="000099"/>
                </a:solidFill>
                <a:latin typeface="+mn-lt"/>
                <a:cs typeface="Avenir Book" charset="0"/>
              </a:rPr>
              <a:t>www.cs.umn.edu</a:t>
            </a:r>
            <a:r>
              <a:rPr lang="en-US" b="1" dirty="0">
                <a:solidFill>
                  <a:srgbClr val="000099"/>
                </a:solidFill>
                <a:latin typeface="+mn-lt"/>
                <a:cs typeface="Avenir Book" charset="0"/>
              </a:rPr>
              <a:t>/~</a:t>
            </a:r>
            <a:r>
              <a:rPr lang="en-US" b="1" dirty="0" err="1">
                <a:solidFill>
                  <a:srgbClr val="000099"/>
                </a:solidFill>
                <a:latin typeface="+mn-lt"/>
                <a:cs typeface="Avenir Book" charset="0"/>
              </a:rPr>
              <a:t>zhzhang</a:t>
            </a:r>
            <a:endParaRPr lang="en-US" b="1" dirty="0">
              <a:solidFill>
                <a:srgbClr val="000099"/>
              </a:solidFill>
              <a:latin typeface="+mn-lt"/>
              <a:cs typeface="Avenir Book" charset="0"/>
            </a:endParaRPr>
          </a:p>
          <a:p>
            <a:pPr>
              <a:lnSpc>
                <a:spcPct val="70000"/>
              </a:lnSpc>
              <a:defRPr/>
            </a:pPr>
            <a:endParaRPr lang="en-US" b="1" dirty="0">
              <a:solidFill>
                <a:srgbClr val="000099"/>
              </a:solidFill>
              <a:latin typeface="Comic Sans MS" charset="0"/>
              <a:ea typeface="Avenir Book" charset="0"/>
              <a:cs typeface="Avenir Book" charset="0"/>
            </a:endParaRPr>
          </a:p>
          <a:p>
            <a:pPr>
              <a:lnSpc>
                <a:spcPct val="70000"/>
              </a:lnSpc>
              <a:defRPr/>
            </a:pPr>
            <a:endParaRPr lang="en-US" b="1" dirty="0">
              <a:solidFill>
                <a:srgbClr val="000099"/>
              </a:solidFill>
              <a:latin typeface="Comic Sans MS" charset="0"/>
              <a:ea typeface="Avenir Book" charset="0"/>
              <a:cs typeface="Avenir Book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B144BEC-7F3B-7F44-A0FA-F4FB44C78EA9}" type="slidenum">
              <a:rPr lang="en-US" sz="1200">
                <a:latin typeface="Comic Sans MS" charset="0"/>
              </a:rPr>
              <a:pPr/>
              <a:t>3</a:t>
            </a:fld>
            <a:endParaRPr lang="en-US" sz="1200">
              <a:latin typeface="Comic Sans MS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i="1">
                <a:latin typeface="Comic Sans MS" charset="0"/>
              </a:rPr>
              <a:t>Who Are We </a:t>
            </a:r>
            <a:endParaRPr lang="en-US">
              <a:latin typeface="Comic Sans MS" charset="0"/>
            </a:endParaRP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762000" y="1279525"/>
            <a:ext cx="7696200" cy="538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 sz="12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TA 1 (50%)</a:t>
            </a:r>
          </a:p>
          <a:p>
            <a:pPr>
              <a:lnSpc>
                <a:spcPct val="11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 smtClean="0">
                <a:solidFill>
                  <a:srgbClr val="000099"/>
                </a:solidFill>
                <a:latin typeface="Comic Sans MS" charset="0"/>
              </a:rPr>
              <a:t>Jason Carpenter</a:t>
            </a: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 err="1">
                <a:solidFill>
                  <a:srgbClr val="000099"/>
                </a:solidFill>
                <a:latin typeface="Comic Sans MS" charset="0"/>
              </a:rPr>
              <a:t>Ph.D</a:t>
            </a: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 Student, Dept. CS&amp;E</a:t>
            </a: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Office: DTC </a:t>
            </a:r>
            <a:r>
              <a:rPr lang="en-US" sz="2800" b="1" dirty="0" smtClean="0">
                <a:solidFill>
                  <a:srgbClr val="000099"/>
                </a:solidFill>
                <a:latin typeface="Comic Sans MS" charset="0"/>
              </a:rPr>
              <a:t>48</a:t>
            </a: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7</a:t>
            </a: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Email:  </a:t>
            </a:r>
            <a:r>
              <a:rPr lang="en-US" sz="2800" b="1" dirty="0" smtClean="0">
                <a:solidFill>
                  <a:srgbClr val="000099"/>
                </a:solidFill>
                <a:latin typeface="Comic Sans MS" charset="0"/>
              </a:rPr>
              <a:t>carpe415@umn.edu</a:t>
            </a: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Office Hours Location: Keller Hall Room (2-209)</a:t>
            </a: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b="1" dirty="0">
              <a:solidFill>
                <a:srgbClr val="000099"/>
              </a:solidFill>
              <a:latin typeface="Comic Sans M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B144BEC-7F3B-7F44-A0FA-F4FB44C78EA9}" type="slidenum">
              <a:rPr lang="en-US" sz="1200">
                <a:latin typeface="Comic Sans MS" charset="0"/>
              </a:rPr>
              <a:pPr/>
              <a:t>4</a:t>
            </a:fld>
            <a:endParaRPr lang="en-US" sz="1200">
              <a:latin typeface="Comic Sans MS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i="1">
                <a:latin typeface="Comic Sans MS" charset="0"/>
              </a:rPr>
              <a:t>Who Are We </a:t>
            </a:r>
            <a:endParaRPr lang="en-US">
              <a:latin typeface="Comic Sans MS" charset="0"/>
            </a:endParaRP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762000" y="1279525"/>
            <a:ext cx="7696200" cy="538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 sz="12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TA </a:t>
            </a:r>
            <a:r>
              <a:rPr lang="en-US" sz="2800" b="1" dirty="0" smtClean="0">
                <a:solidFill>
                  <a:srgbClr val="000099"/>
                </a:solidFill>
                <a:latin typeface="Comic Sans MS" charset="0"/>
              </a:rPr>
              <a:t>2 </a:t>
            </a: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(50%)</a:t>
            </a:r>
          </a:p>
          <a:p>
            <a:pPr>
              <a:lnSpc>
                <a:spcPct val="11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 smtClean="0">
                <a:solidFill>
                  <a:srgbClr val="000099"/>
                </a:solidFill>
                <a:latin typeface="Comic Sans MS" charset="0"/>
              </a:rPr>
              <a:t>Tim </a:t>
            </a:r>
            <a:r>
              <a:rPr lang="en-US" sz="2800" b="1" dirty="0" err="1" smtClean="0">
                <a:solidFill>
                  <a:srgbClr val="000099"/>
                </a:solidFill>
                <a:latin typeface="Comic Sans MS" charset="0"/>
              </a:rPr>
              <a:t>Salos</a:t>
            </a: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 err="1">
                <a:solidFill>
                  <a:srgbClr val="000099"/>
                </a:solidFill>
                <a:latin typeface="Comic Sans MS" charset="0"/>
              </a:rPr>
              <a:t>Ph.D</a:t>
            </a: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 Student, Dept. CS&amp;E</a:t>
            </a: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Office: DTC </a:t>
            </a:r>
            <a:r>
              <a:rPr lang="en-US" sz="2800" b="1" dirty="0" smtClean="0">
                <a:solidFill>
                  <a:srgbClr val="000099"/>
                </a:solidFill>
                <a:latin typeface="Comic Sans MS" charset="0"/>
              </a:rPr>
              <a:t>48</a:t>
            </a: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7</a:t>
            </a: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Email:  </a:t>
            </a:r>
            <a:r>
              <a:rPr lang="en-US" sz="2800" b="1" dirty="0" smtClean="0">
                <a:solidFill>
                  <a:srgbClr val="000099"/>
                </a:solidFill>
                <a:latin typeface="Comic Sans MS" charset="0"/>
              </a:rPr>
              <a:t>salox049@umn.edu</a:t>
            </a: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Office Hours Location: Keller Hall Room (2-209)</a:t>
            </a: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b="1" dirty="0">
              <a:solidFill>
                <a:srgbClr val="000099"/>
              </a:solidFill>
              <a:latin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120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CB144BEC-7F3B-7F44-A0FA-F4FB44C78EA9}" type="slidenum">
              <a:rPr lang="en-US" sz="1200">
                <a:latin typeface="Comic Sans MS" charset="0"/>
              </a:rPr>
              <a:pPr/>
              <a:t>5</a:t>
            </a:fld>
            <a:endParaRPr lang="en-US" sz="1200">
              <a:latin typeface="Comic Sans MS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i="1">
                <a:latin typeface="Comic Sans MS" charset="0"/>
              </a:rPr>
              <a:t>Who Are We </a:t>
            </a:r>
            <a:endParaRPr lang="en-US">
              <a:latin typeface="Comic Sans MS" charset="0"/>
            </a:endParaRP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762000" y="1279525"/>
            <a:ext cx="7696200" cy="538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 sz="12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TA 3</a:t>
            </a:r>
            <a:r>
              <a:rPr lang="en-US" sz="2800" b="1" dirty="0" smtClean="0">
                <a:solidFill>
                  <a:srgbClr val="000099"/>
                </a:solidFill>
                <a:latin typeface="Comic Sans MS" charset="0"/>
              </a:rPr>
              <a:t> (25%)</a:t>
            </a: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11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 err="1" smtClean="0">
                <a:solidFill>
                  <a:srgbClr val="000099"/>
                </a:solidFill>
                <a:latin typeface="Comic Sans MS" charset="0"/>
              </a:rPr>
              <a:t>Ziyan</a:t>
            </a:r>
            <a:r>
              <a:rPr lang="en-US" sz="2800" b="1" dirty="0" smtClean="0">
                <a:solidFill>
                  <a:srgbClr val="000099"/>
                </a:solidFill>
                <a:latin typeface="Comic Sans MS" charset="0"/>
              </a:rPr>
              <a:t> Wu</a:t>
            </a: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 err="1">
                <a:solidFill>
                  <a:srgbClr val="000099"/>
                </a:solidFill>
                <a:latin typeface="Comic Sans MS" charset="0"/>
              </a:rPr>
              <a:t>Ph.D</a:t>
            </a: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 Student, Dept. CS&amp;E</a:t>
            </a: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Office: DTC </a:t>
            </a:r>
            <a:r>
              <a:rPr lang="en-US" sz="2800" b="1" dirty="0" smtClean="0">
                <a:solidFill>
                  <a:srgbClr val="000099"/>
                </a:solidFill>
                <a:latin typeface="Comic Sans MS" charset="0"/>
              </a:rPr>
              <a:t>48</a:t>
            </a: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7</a:t>
            </a: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Email:  </a:t>
            </a:r>
            <a:r>
              <a:rPr lang="en-US" sz="2800" b="1" dirty="0" smtClean="0">
                <a:solidFill>
                  <a:srgbClr val="000099"/>
                </a:solidFill>
                <a:latin typeface="Comic Sans MS" charset="0"/>
              </a:rPr>
              <a:t>wu000598@umn.edu</a:t>
            </a: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r>
              <a:rPr lang="en-US" sz="2800" b="1" dirty="0">
                <a:solidFill>
                  <a:srgbClr val="000099"/>
                </a:solidFill>
                <a:latin typeface="Comic Sans MS" charset="0"/>
              </a:rPr>
              <a:t>Office Hours Location: Keller Hall Room (2-209)</a:t>
            </a: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sz="2800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b="1" dirty="0">
              <a:solidFill>
                <a:srgbClr val="000099"/>
              </a:solidFill>
              <a:latin typeface="Comic Sans MS" charset="0"/>
            </a:endParaRPr>
          </a:p>
          <a:p>
            <a:pPr>
              <a:lnSpc>
                <a:spcPct val="70000"/>
              </a:lnSpc>
            </a:pPr>
            <a:endParaRPr lang="en-US" b="1" dirty="0">
              <a:solidFill>
                <a:srgbClr val="000099"/>
              </a:solidFill>
              <a:latin typeface="Comic Sans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52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2560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BC81955-9A23-9143-9C45-E4839959AD5B}" type="slidenum">
              <a:rPr lang="en-US" sz="1200">
                <a:latin typeface="Comic Sans MS" charset="0"/>
              </a:rPr>
              <a:pPr/>
              <a:t>6</a:t>
            </a:fld>
            <a:endParaRPr lang="en-US" sz="1200">
              <a:latin typeface="Comic Sans MS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r>
              <a:rPr lang="en-US">
                <a:latin typeface="Comic Sans MS" charset="0"/>
              </a:rPr>
              <a:t>What is Csci4211 about?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447800"/>
            <a:ext cx="7772400" cy="4114800"/>
          </a:xfrm>
        </p:spPr>
        <p:txBody>
          <a:bodyPr/>
          <a:lstStyle/>
          <a:p>
            <a:pPr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First (Introductory) Networking Course</a:t>
            </a:r>
          </a:p>
          <a:p>
            <a:pPr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We</a:t>
            </a:r>
            <a:r>
              <a:rPr lang="ja-JP" altLang="en-US">
                <a:latin typeface="Comic Sans MS" charset="0"/>
              </a:rPr>
              <a:t>’</a:t>
            </a:r>
            <a:r>
              <a:rPr lang="en-US" altLang="ja-JP">
                <a:latin typeface="Comic Sans MS" charset="0"/>
              </a:rPr>
              <a:t>ll learn about</a:t>
            </a:r>
          </a:p>
          <a:p>
            <a:pPr lvl="1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Fundamental principles and concepts in computer networks</a:t>
            </a:r>
          </a:p>
          <a:p>
            <a:pPr lvl="1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How Internet works </a:t>
            </a:r>
          </a:p>
          <a:p>
            <a:pPr lvl="1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Focus on network software architecture and mechanisms</a:t>
            </a:r>
          </a:p>
          <a:p>
            <a:pPr lvl="1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hands-on experiences </a:t>
            </a:r>
          </a:p>
          <a:p>
            <a:pPr lvl="2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via programing projects, wireshark exercises, etc.</a:t>
            </a:r>
          </a:p>
          <a:p>
            <a:pPr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 Who is it for? </a:t>
            </a:r>
          </a:p>
          <a:p>
            <a:pPr lvl="1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 CSci, CE or EE undergraduate students</a:t>
            </a:r>
          </a:p>
          <a:p>
            <a:pPr lvl="1">
              <a:buClr>
                <a:srgbClr val="000099"/>
              </a:buClr>
              <a:buSzPct val="75000"/>
              <a:buFont typeface="Wingdings" charset="0"/>
              <a:buNone/>
            </a:pPr>
            <a:endParaRPr lang="en-US">
              <a:latin typeface="Comic Sans MS" charset="0"/>
            </a:endParaRPr>
          </a:p>
          <a:p>
            <a:pPr lvl="1">
              <a:buClr>
                <a:srgbClr val="000099"/>
              </a:buClr>
              <a:buSzPct val="75000"/>
              <a:buFont typeface="Wingdings" charset="0"/>
              <a:buNone/>
            </a:pPr>
            <a:endParaRPr lang="en-US">
              <a:latin typeface="Comic Sans M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2D167664-2A67-824E-8E55-BB7808792ECE}" type="slidenum">
              <a:rPr lang="en-US" sz="1200">
                <a:latin typeface="Comic Sans MS" charset="0"/>
              </a:rPr>
              <a:pPr/>
              <a:t>7</a:t>
            </a:fld>
            <a:endParaRPr lang="en-US" sz="1200">
              <a:latin typeface="Comic Sans MS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152400"/>
            <a:ext cx="7772400" cy="1143000"/>
          </a:xfrm>
        </p:spPr>
        <p:txBody>
          <a:bodyPr/>
          <a:lstStyle/>
          <a:p>
            <a:r>
              <a:rPr lang="en-US">
                <a:latin typeface="Comic Sans MS" charset="0"/>
              </a:rPr>
              <a:t>Course Prerequisite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3581400"/>
          </a:xfrm>
        </p:spPr>
        <p:txBody>
          <a:bodyPr/>
          <a:lstStyle/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dirty="0">
                <a:latin typeface="Comic Sans MS" charset="0"/>
              </a:rPr>
              <a:t>Algorithms, Computer Architecture, OS 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dirty="0">
                <a:latin typeface="Comic Sans MS" charset="0"/>
              </a:rPr>
              <a:t>Not necessary, but helpful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dirty="0">
                <a:latin typeface="Comic Sans MS" charset="0"/>
              </a:rPr>
              <a:t>Basic knowledge of probability 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dirty="0">
                <a:latin typeface="Comic Sans MS" charset="0"/>
              </a:rPr>
              <a:t>Programming experience in Python/Java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None/>
            </a:pPr>
            <a:endParaRPr lang="en-US" sz="2400" dirty="0">
              <a:latin typeface="Comic Sans MS" charset="0"/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685800" y="3962400"/>
            <a:ext cx="7277100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None/>
            </a:pPr>
            <a:r>
              <a:rPr lang="en-US" sz="2800" i="1">
                <a:latin typeface="Comic Sans MS" charset="0"/>
              </a:rPr>
              <a:t>More importantly</a:t>
            </a:r>
          </a:p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800">
                <a:latin typeface="Comic Sans MS" charset="0"/>
              </a:rPr>
              <a:t> Willing to learn and work hard  </a:t>
            </a:r>
          </a:p>
          <a:p>
            <a:pPr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800">
                <a:latin typeface="Comic Sans MS" charset="0"/>
              </a:rPr>
              <a:t> Love to ask questions and solve 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29698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8395A48A-57AD-D94C-B640-923A62382A7F}" type="slidenum">
              <a:rPr lang="en-US" sz="1200">
                <a:latin typeface="Comic Sans MS" charset="0"/>
              </a:rPr>
              <a:pPr/>
              <a:t>8</a:t>
            </a:fld>
            <a:endParaRPr lang="en-US" sz="1200">
              <a:latin typeface="Comic Sans MS" charset="0"/>
            </a:endParaRPr>
          </a:p>
        </p:txBody>
      </p:sp>
      <p:sp>
        <p:nvSpPr>
          <p:cNvPr id="2969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>
                <a:latin typeface="Comic Sans MS" charset="0"/>
              </a:rPr>
              <a:t>Course Materials</a:t>
            </a:r>
          </a:p>
        </p:txBody>
      </p:sp>
      <p:sp>
        <p:nvSpPr>
          <p:cNvPr id="297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09600" y="990600"/>
            <a:ext cx="8077200" cy="4876800"/>
          </a:xfrm>
        </p:spPr>
        <p:txBody>
          <a:bodyPr/>
          <a:lstStyle/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Required Textbook: 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 i="1">
                <a:latin typeface="Comic Sans MS" charset="0"/>
              </a:rPr>
              <a:t>Computer Networking: A Top-Down Approach 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None/>
            </a:pPr>
            <a:r>
              <a:rPr lang="en-US">
                <a:latin typeface="Comic Sans MS" charset="0"/>
              </a:rPr>
              <a:t>       </a:t>
            </a:r>
            <a:r>
              <a:rPr lang="en-US" sz="2400">
                <a:latin typeface="Comic Sans MS" charset="0"/>
              </a:rPr>
              <a:t>by Jim Kurose and Keith Ross, 7</a:t>
            </a:r>
            <a:r>
              <a:rPr lang="en-US" sz="2400" baseline="30000">
                <a:latin typeface="Comic Sans MS" charset="0"/>
              </a:rPr>
              <a:t>th</a:t>
            </a:r>
            <a:r>
              <a:rPr lang="en-US" sz="2400">
                <a:latin typeface="Comic Sans MS" charset="0"/>
              </a:rPr>
              <a:t> edition 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None/>
            </a:pPr>
            <a:r>
              <a:rPr lang="en-US" sz="2400">
                <a:latin typeface="Comic Sans MS" charset="0"/>
              </a:rPr>
              <a:t>            Pearson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Website: </a:t>
            </a:r>
            <a:r>
              <a:rPr lang="en-US" sz="1600">
                <a:latin typeface="Comic Sans MS" charset="0"/>
              </a:rPr>
              <a:t>https://www.pearsonhighered.com/program/Kurose-Computer-Networking-A-Top-Down-Approach-7th-Edition/PGM1101673.html</a:t>
            </a:r>
          </a:p>
          <a:p>
            <a:pPr marL="838200" lvl="1" indent="-381000">
              <a:buClr>
                <a:srgbClr val="000099"/>
              </a:buClr>
              <a:buSzPct val="75000"/>
              <a:buFontTx/>
              <a:buNone/>
            </a:pPr>
            <a:endParaRPr lang="en-US" sz="1800">
              <a:latin typeface="Comic Sans MS" charset="0"/>
            </a:endParaRP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Other Useful Textbooks: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 i="1">
                <a:latin typeface="Comic Sans MS" charset="0"/>
              </a:rPr>
              <a:t>Computer Networks</a:t>
            </a:r>
            <a:r>
              <a:rPr lang="en-US" sz="1800">
                <a:latin typeface="Comic Sans MS" charset="0"/>
              </a:rPr>
              <a:t> by Andrew Tanenbaum, Prentice Hall,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i="1">
                <a:latin typeface="Comic Sans MS" charset="0"/>
              </a:rPr>
              <a:t>and many others!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endParaRPr lang="en-US" sz="1800">
              <a:latin typeface="Comic Sans MS" charset="0"/>
            </a:endParaRP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Class Notes and other assigned readings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ChangeArrowheads="1"/>
          </p:cNvSpPr>
          <p:nvPr>
            <p:ph type="title"/>
          </p:nvPr>
        </p:nvSpPr>
        <p:spPr>
          <a:xfrm>
            <a:off x="533400" y="74613"/>
            <a:ext cx="7773988" cy="1144587"/>
          </a:xfrm>
        </p:spPr>
        <p:txBody>
          <a:bodyPr lIns="0" tIns="0" rIns="0" bIns="0"/>
          <a:lstStyle/>
          <a:p>
            <a:pPr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</a:pPr>
            <a:r>
              <a:rPr lang="en-GB" altLang="zh-CN">
                <a:latin typeface="Comic Sans MS" charset="0"/>
                <a:ea typeface="宋体" charset="0"/>
                <a:cs typeface="宋体" charset="0"/>
              </a:rPr>
              <a:t>Lecture Notes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1066800"/>
            <a:ext cx="7773988" cy="4953000"/>
          </a:xfrm>
        </p:spPr>
        <p:txBody>
          <a:bodyPr lIns="0" tIns="0" rIns="0" bIns="0"/>
          <a:lstStyle/>
          <a:p>
            <a:pPr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</a:pPr>
            <a:r>
              <a:rPr lang="en-GB" altLang="zh-CN">
                <a:latin typeface="Comic Sans MS" charset="0"/>
                <a:ea typeface="宋体" charset="0"/>
                <a:cs typeface="宋体" charset="0"/>
              </a:rPr>
              <a:t> </a:t>
            </a: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Lecture notes will be posted on the class website </a:t>
            </a:r>
          </a:p>
          <a:p>
            <a:pPr lvl="1"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</a:pPr>
            <a:r>
              <a:rPr lang="en-GB" altLang="zh-CN" sz="2200">
                <a:latin typeface="Comic Sans MS" charset="0"/>
                <a:ea typeface="宋体" charset="0"/>
                <a:cs typeface="宋体" charset="0"/>
              </a:rPr>
              <a:t>Lecture notes provide you an “outline” of the key concepts and materials we will cover in lectures</a:t>
            </a:r>
          </a:p>
          <a:p>
            <a:pPr lvl="2"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</a:pPr>
            <a:r>
              <a:rPr lang="en-GB" altLang="zh-CN" sz="2000">
                <a:latin typeface="Comic Sans MS" charset="0"/>
                <a:ea typeface="宋体" charset="0"/>
                <a:cs typeface="宋体" charset="0"/>
              </a:rPr>
              <a:t>May also contain  some supplementary information no in the textbooks</a:t>
            </a:r>
          </a:p>
          <a:p>
            <a:pPr lvl="1"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</a:pPr>
            <a:r>
              <a:rPr lang="en-GB" altLang="zh-CN" sz="2200">
                <a:latin typeface="Comic Sans MS" charset="0"/>
                <a:ea typeface="宋体" charset="0"/>
                <a:cs typeface="宋体" charset="0"/>
              </a:rPr>
              <a:t>will be posted before class, </a:t>
            </a:r>
            <a:r>
              <a:rPr lang="en-GB" altLang="zh-CN" sz="2200">
                <a:solidFill>
                  <a:srgbClr val="FF0000"/>
                </a:solidFill>
                <a:latin typeface="Comic Sans MS" charset="0"/>
                <a:ea typeface="宋体" charset="0"/>
                <a:cs typeface="宋体" charset="0"/>
              </a:rPr>
              <a:t>so please read them before the class if possible!</a:t>
            </a:r>
          </a:p>
          <a:p>
            <a:pPr lvl="2"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</a:pPr>
            <a:r>
              <a:rPr lang="en-GB" altLang="zh-CN" sz="2000">
                <a:latin typeface="Comic Sans MS" charset="0"/>
                <a:ea typeface="宋体" charset="0"/>
                <a:cs typeface="宋体" charset="0"/>
              </a:rPr>
              <a:t>If you want hardcopy, you must print your own. This includes class notes and assignment specifications.</a:t>
            </a:r>
          </a:p>
          <a:p>
            <a:pPr lvl="1"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</a:pPr>
            <a:r>
              <a:rPr lang="en-GB" altLang="zh-CN" sz="2200">
                <a:latin typeface="Comic Sans MS" charset="0"/>
                <a:ea typeface="宋体" charset="0"/>
                <a:cs typeface="宋体" charset="0"/>
              </a:rPr>
              <a:t>may be updated slightly after lectures</a:t>
            </a:r>
          </a:p>
          <a:p>
            <a:pPr lvl="1">
              <a:buFontTx/>
              <a:buNone/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</a:pPr>
            <a:endParaRPr lang="en-GB" altLang="zh-CN" sz="800">
              <a:latin typeface="Comic Sans MS" charset="0"/>
              <a:ea typeface="宋体" charset="0"/>
              <a:cs typeface="宋体" charset="0"/>
            </a:endParaRPr>
          </a:p>
          <a:p>
            <a:pPr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</a:pPr>
            <a:r>
              <a:rPr lang="en-GB" altLang="zh-CN" sz="2000">
                <a:solidFill>
                  <a:srgbClr val="0000FF"/>
                </a:solidFill>
                <a:latin typeface="Comic Sans MS" charset="0"/>
                <a:ea typeface="宋体" charset="0"/>
                <a:cs typeface="宋体" charset="0"/>
              </a:rPr>
              <a:t>Lecture notes are mostly based on the lecture notes by the authors, which you can find on the textbook website </a:t>
            </a:r>
          </a:p>
          <a:p>
            <a:pPr lvl="1"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</a:pPr>
            <a:r>
              <a:rPr lang="en-GB" altLang="zh-CN">
                <a:solidFill>
                  <a:srgbClr val="0000FF"/>
                </a:solidFill>
                <a:latin typeface="Comic Sans MS" charset="0"/>
                <a:ea typeface="宋体" charset="0"/>
                <a:cs typeface="宋体" charset="0"/>
              </a:rPr>
              <a:t>and with many other useful materials!</a:t>
            </a:r>
          </a:p>
          <a:p>
            <a:pPr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</a:pPr>
            <a:endParaRPr lang="en-GB" altLang="zh-CN">
              <a:latin typeface="Comic Sans MS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68ABCEBC-EF01-BF4C-B788-CF23BEA0499D}" type="slidenum">
              <a:rPr lang="en-US" sz="1200">
                <a:latin typeface="Comic Sans MS" charset="0"/>
              </a:rPr>
              <a:pPr/>
              <a:t>10</a:t>
            </a:fld>
            <a:endParaRPr lang="en-US" sz="1200">
              <a:latin typeface="Comic Sans MS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/>
          <a:lstStyle/>
          <a:p>
            <a:r>
              <a:rPr lang="en-US">
                <a:latin typeface="Comic Sans MS" charset="0"/>
              </a:rPr>
              <a:t>Class Information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8077200" cy="4724400"/>
          </a:xfrm>
        </p:spPr>
        <p:txBody>
          <a:bodyPr/>
          <a:lstStyle/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dirty="0">
                <a:latin typeface="Comic Sans MS" charset="0"/>
              </a:rPr>
              <a:t>Class Website : 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dirty="0">
                <a:solidFill>
                  <a:srgbClr val="FF0000"/>
                </a:solidFill>
                <a:latin typeface="Comic Sans MS" charset="0"/>
                <a:hlinkClick r:id="rId3"/>
              </a:rPr>
              <a:t>http://</a:t>
            </a:r>
            <a:r>
              <a:rPr lang="en-US" dirty="0" smtClean="0">
                <a:solidFill>
                  <a:srgbClr val="FF0000"/>
                </a:solidFill>
                <a:latin typeface="Comic Sans MS" charset="0"/>
                <a:hlinkClick r:id="rId3"/>
              </a:rPr>
              <a:t>www.cselabs.umn.edu/classes/Spring-2020/csci4211</a:t>
            </a:r>
            <a:endParaRPr lang="en-US" dirty="0">
              <a:solidFill>
                <a:srgbClr val="FF0000"/>
              </a:solidFill>
              <a:latin typeface="Comic Sans MS" charset="0"/>
            </a:endParaRP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endParaRPr lang="en-US" sz="800" dirty="0">
              <a:solidFill>
                <a:srgbClr val="FF0000"/>
              </a:solidFill>
              <a:latin typeface="Comic Sans MS" charset="0"/>
            </a:endParaRP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dirty="0">
                <a:latin typeface="Comic Sans MS" charset="0"/>
              </a:rPr>
              <a:t>Class </a:t>
            </a:r>
            <a:r>
              <a:rPr lang="en-US" dirty="0" smtClean="0">
                <a:latin typeface="Comic Sans MS" charset="0"/>
              </a:rPr>
              <a:t>Canvas </a:t>
            </a:r>
            <a:r>
              <a:rPr lang="en-US" dirty="0">
                <a:latin typeface="Comic Sans MS" charset="0"/>
              </a:rPr>
              <a:t>Site (for submission</a:t>
            </a:r>
            <a:r>
              <a:rPr lang="en-US" dirty="0" smtClean="0">
                <a:latin typeface="Comic Sans MS" charset="0"/>
              </a:rPr>
              <a:t>, etc.) </a:t>
            </a:r>
            <a:endParaRPr lang="en-US" dirty="0">
              <a:latin typeface="Comic Sans MS" charset="0"/>
            </a:endParaRP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dirty="0">
                <a:latin typeface="Comic Sans MS" charset="0"/>
              </a:rPr>
              <a:t>Announcement Page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dirty="0">
                <a:latin typeface="Comic Sans MS" charset="0"/>
              </a:rPr>
              <a:t>Check the web page periodically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endParaRPr lang="en-US" sz="800" dirty="0">
              <a:latin typeface="Comic Sans MS" charset="0"/>
            </a:endParaRP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dirty="0">
                <a:latin typeface="Comic Sans MS" charset="0"/>
              </a:rPr>
              <a:t>Class Google Group Mailing List: </a:t>
            </a:r>
          </a:p>
          <a:p>
            <a:pPr marL="457200" indent="-457200">
              <a:buClr>
                <a:srgbClr val="000099"/>
              </a:buClr>
              <a:buSzPct val="75000"/>
              <a:buFontTx/>
              <a:buNone/>
            </a:pPr>
            <a:r>
              <a:rPr lang="en-US" sz="2200">
                <a:solidFill>
                  <a:srgbClr val="FF0000"/>
                </a:solidFill>
                <a:latin typeface="Comic Sans MS" charset="0"/>
              </a:rPr>
              <a:t>         </a:t>
            </a:r>
            <a:r>
              <a:rPr lang="en-US" sz="2200" smtClean="0">
                <a:solidFill>
                  <a:srgbClr val="FF0000"/>
                </a:solidFill>
                <a:latin typeface="Comic Sans MS" charset="0"/>
              </a:rPr>
              <a:t>umn-csci4211-s20@googlegroups.com</a:t>
            </a:r>
            <a:endParaRPr lang="en-US" sz="2200" dirty="0">
              <a:solidFill>
                <a:srgbClr val="FF0000"/>
              </a:solidFill>
              <a:latin typeface="Comic Sans MS" charset="0"/>
            </a:endParaRPr>
          </a:p>
          <a:p>
            <a:pPr marL="457200" indent="-457200">
              <a:buClr>
                <a:srgbClr val="000099"/>
              </a:buClr>
              <a:buSzPct val="75000"/>
              <a:buFontTx/>
              <a:buNone/>
            </a:pPr>
            <a:r>
              <a:rPr lang="en-US" sz="2200" dirty="0">
                <a:latin typeface="Comic Sans MS" charset="0"/>
              </a:rPr>
              <a:t>         -- will add you directly using your UMN email address </a:t>
            </a:r>
          </a:p>
          <a:p>
            <a:pPr marL="457200" indent="-457200">
              <a:buClr>
                <a:srgbClr val="000099"/>
              </a:buClr>
              <a:buSzPct val="75000"/>
              <a:buFontTx/>
              <a:buNone/>
            </a:pPr>
            <a:endParaRPr lang="en-US" sz="800" dirty="0">
              <a:latin typeface="Comic Sans MS" charset="0"/>
            </a:endParaRP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dirty="0">
                <a:latin typeface="Comic Sans MS" charset="0"/>
              </a:rPr>
              <a:t> </a:t>
            </a:r>
            <a:r>
              <a:rPr lang="en-GB" altLang="zh-CN" sz="2400" dirty="0">
                <a:latin typeface="Comic Sans MS" charset="0"/>
                <a:ea typeface="宋体" charset="0"/>
                <a:cs typeface="宋体" charset="0"/>
              </a:rPr>
              <a:t>Help Hot </a:t>
            </a:r>
            <a:r>
              <a:rPr lang="en-GB" altLang="zh-CN" sz="2400" dirty="0" smtClean="0">
                <a:latin typeface="Comic Sans MS" charset="0"/>
                <a:ea typeface="宋体" charset="0"/>
                <a:cs typeface="宋体" charset="0"/>
              </a:rPr>
              <a:t>Line: </a:t>
            </a:r>
            <a:r>
              <a:rPr lang="en-GB" altLang="zh-CN" sz="2400" dirty="0" smtClean="0">
                <a:solidFill>
                  <a:srgbClr val="FF0000"/>
                </a:solidFill>
                <a:latin typeface="Comic Sans MS" charset="0"/>
                <a:ea typeface="宋体" charset="0"/>
                <a:cs typeface="宋体" charset="0"/>
              </a:rPr>
              <a:t>umn-csci4211-help@googlegroup</a:t>
            </a:r>
            <a:endParaRPr lang="en-GB" altLang="zh-CN" sz="2400" dirty="0">
              <a:solidFill>
                <a:srgbClr val="FF0000"/>
              </a:solidFill>
              <a:latin typeface="Comic Sans MS" charset="0"/>
              <a:ea typeface="宋体" charset="0"/>
              <a:cs typeface="宋体" charset="0"/>
            </a:endParaRPr>
          </a:p>
          <a:p>
            <a:pPr marL="457200" indent="-457200">
              <a:buClr>
                <a:srgbClr val="000099"/>
              </a:buClr>
              <a:buSzPct val="75000"/>
              <a:buFontTx/>
              <a:buNone/>
            </a:pPr>
            <a:endParaRPr lang="en-US" dirty="0">
              <a:latin typeface="Comic Sans MS" charset="0"/>
            </a:endParaRPr>
          </a:p>
          <a:p>
            <a:pPr marL="457200" indent="-457200">
              <a:buClr>
                <a:srgbClr val="000099"/>
              </a:buClr>
              <a:buSzPct val="75000"/>
              <a:buFontTx/>
              <a:buNone/>
            </a:pPr>
            <a:r>
              <a:rPr lang="en-US" dirty="0">
                <a:latin typeface="Comic Sans MS" charset="0"/>
              </a:rPr>
              <a:t>    </a:t>
            </a:r>
            <a:endParaRPr lang="en-US" sz="2000" dirty="0">
              <a:latin typeface="Comic Sans MS" charset="0"/>
            </a:endParaRPr>
          </a:p>
          <a:p>
            <a:pPr marL="457200" indent="-457200">
              <a:buClr>
                <a:srgbClr val="000099"/>
              </a:buClr>
              <a:buSzPct val="75000"/>
              <a:buFontTx/>
              <a:buNone/>
            </a:pPr>
            <a:endParaRPr lang="en-US" sz="2000" dirty="0">
              <a:latin typeface="Comic Sans M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3584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E57FA909-2CCB-8049-82A2-65C776CC34A2}" type="slidenum">
              <a:rPr lang="en-US" sz="1200">
                <a:latin typeface="Comic Sans MS" charset="0"/>
              </a:rPr>
              <a:pPr/>
              <a:t>11</a:t>
            </a:fld>
            <a:endParaRPr lang="en-US" sz="1200">
              <a:latin typeface="Comic Sans MS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r>
              <a:rPr lang="en-US">
                <a:latin typeface="Comic Sans MS" charset="0"/>
              </a:rPr>
              <a:t>Course Requirements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153400" cy="4419600"/>
          </a:xfrm>
        </p:spPr>
        <p:txBody>
          <a:bodyPr/>
          <a:lstStyle/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Do assigned readings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Be prepared, read textbook/lecture notes before class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Attend and participate in class activities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Please ask and answer questions in (and out of) class!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Let</a:t>
            </a:r>
            <a:r>
              <a:rPr lang="ja-JP" altLang="en-US" sz="1800">
                <a:latin typeface="Comic Sans MS" charset="0"/>
              </a:rPr>
              <a:t>’</a:t>
            </a:r>
            <a:r>
              <a:rPr lang="en-US" altLang="ja-JP" sz="1800">
                <a:latin typeface="Comic Sans MS" charset="0"/>
              </a:rPr>
              <a:t>s try to make the class interactive and fun!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Workload 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Two homework assignments (</a:t>
            </a:r>
            <a:r>
              <a:rPr lang="ja-JP" altLang="en-US" sz="1800">
                <a:latin typeface="Comic Sans MS" charset="0"/>
              </a:rPr>
              <a:t>“</a:t>
            </a:r>
            <a:r>
              <a:rPr lang="en-US" altLang="ja-JP" sz="1800">
                <a:latin typeface="Comic Sans MS" charset="0"/>
              </a:rPr>
              <a:t>mock</a:t>
            </a:r>
            <a:r>
              <a:rPr lang="ja-JP" altLang="en-US" sz="1800">
                <a:latin typeface="Comic Sans MS" charset="0"/>
              </a:rPr>
              <a:t>”</a:t>
            </a:r>
            <a:r>
              <a:rPr lang="en-US" altLang="ja-JP" sz="1800">
                <a:latin typeface="Comic Sans MS" charset="0"/>
              </a:rPr>
              <a:t> exams): 10% each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Four (small) </a:t>
            </a:r>
            <a:r>
              <a:rPr lang="ja-JP" altLang="en-US" sz="1800">
                <a:latin typeface="Comic Sans MS" charset="0"/>
              </a:rPr>
              <a:t>“</a:t>
            </a:r>
            <a:r>
              <a:rPr lang="en-US" altLang="ja-JP" sz="1800">
                <a:latin typeface="Comic Sans MS" charset="0"/>
              </a:rPr>
              <a:t>hands-on</a:t>
            </a:r>
            <a:r>
              <a:rPr lang="ja-JP" altLang="en-US" sz="1800">
                <a:latin typeface="Comic Sans MS" charset="0"/>
              </a:rPr>
              <a:t>”</a:t>
            </a:r>
            <a:r>
              <a:rPr lang="en-US" altLang="ja-JP" sz="1800">
                <a:latin typeface="Comic Sans MS" charset="0"/>
              </a:rPr>
              <a:t> programming projects: 8-9% each, 35%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Two </a:t>
            </a:r>
            <a:r>
              <a:rPr lang="en-US" sz="1800" i="1">
                <a:latin typeface="Comic Sans MS" charset="0"/>
              </a:rPr>
              <a:t>“take-home” </a:t>
            </a:r>
            <a:r>
              <a:rPr lang="en-US" sz="1800">
                <a:latin typeface="Comic Sans MS" charset="0"/>
              </a:rPr>
              <a:t>quizzes: 10% each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One final exam: 25%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Grade </a:t>
            </a:r>
            <a:r>
              <a:rPr lang="en-US" sz="2400" i="1">
                <a:solidFill>
                  <a:srgbClr val="FF0000"/>
                </a:solidFill>
                <a:latin typeface="Comic Sans MS" charset="0"/>
              </a:rPr>
              <a:t>not</a:t>
            </a:r>
            <a:r>
              <a:rPr lang="en-US" sz="2400">
                <a:latin typeface="Comic Sans MS" charset="0"/>
              </a:rPr>
              <a:t> based on curve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GB" altLang="zh-CN" sz="1800">
                <a:solidFill>
                  <a:srgbClr val="0000FF"/>
                </a:solidFill>
                <a:latin typeface="Comic Sans MS" charset="0"/>
                <a:ea typeface="宋体" charset="0"/>
                <a:cs typeface="宋体" charset="0"/>
              </a:rPr>
              <a:t>Everybody can get a A if you work for it!</a:t>
            </a:r>
            <a:endParaRPr lang="en-US" sz="1800">
              <a:solidFill>
                <a:srgbClr val="0000FF"/>
              </a:solidFill>
              <a:latin typeface="Comic Sans MS" charset="0"/>
            </a:endParaRP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solidFill>
                  <a:srgbClr val="FF0000"/>
                </a:solidFill>
                <a:latin typeface="Comic Sans MS" charset="0"/>
              </a:rPr>
              <a:t>must pass one of the quizzes and the final exam to obtain a passing grade !!!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CSci4211:                     Logistics </a:t>
            </a:r>
          </a:p>
        </p:txBody>
      </p:sp>
      <p:sp>
        <p:nvSpPr>
          <p:cNvPr id="3789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B80F025-5028-0E4C-BF10-1165C24ED97B}" type="slidenum">
              <a:rPr lang="en-US" sz="1200">
                <a:latin typeface="Comic Sans MS" charset="0"/>
              </a:rPr>
              <a:pPr/>
              <a:t>12</a:t>
            </a:fld>
            <a:endParaRPr lang="en-US" sz="1200">
              <a:latin typeface="Comic Sans MS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r>
              <a:rPr lang="en-US">
                <a:latin typeface="Comic Sans MS" charset="0"/>
              </a:rPr>
              <a:t>“Hands-on” Experiences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153400" cy="4419600"/>
          </a:xfrm>
        </p:spPr>
        <p:txBody>
          <a:bodyPr/>
          <a:lstStyle/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200" dirty="0">
                <a:latin typeface="Comic Sans MS" charset="0"/>
              </a:rPr>
              <a:t>It makes no sense to learn about networking without “getting your hands dirty”</a:t>
            </a:r>
            <a:endParaRPr lang="en-US" altLang="ja-JP" sz="2200" dirty="0">
              <a:latin typeface="Comic Sans MS" charset="0"/>
            </a:endParaRP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200" dirty="0">
                <a:latin typeface="Comic Sans MS" charset="0"/>
              </a:rPr>
              <a:t>Four “small” (individual) programming projects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 dirty="0">
                <a:latin typeface="Comic Sans MS" charset="0"/>
              </a:rPr>
              <a:t>Emulate some key mechanisms/algorithms learned in lectures 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altLang="ja-JP" sz="1800" dirty="0">
                <a:latin typeface="Comic Sans MS" charset="0"/>
              </a:rPr>
              <a:t>DNS, TCP, routing and LAN switches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200" dirty="0">
                <a:latin typeface="Comic Sans MS" charset="0"/>
              </a:rPr>
              <a:t>Several “hands-on,” </a:t>
            </a:r>
            <a:r>
              <a:rPr lang="en-US" sz="2200" i="1" dirty="0">
                <a:latin typeface="Comic Sans MS" charset="0"/>
              </a:rPr>
              <a:t>interactive</a:t>
            </a:r>
            <a:r>
              <a:rPr lang="en-US" sz="2200" dirty="0">
                <a:latin typeface="Comic Sans MS" charset="0"/>
              </a:rPr>
              <a:t> lectures (led by TAs)</a:t>
            </a:r>
            <a:endParaRPr lang="en-US" altLang="ja-JP" sz="2200" dirty="0">
              <a:latin typeface="Comic Sans MS" charset="0"/>
            </a:endParaRP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altLang="ja-JP" sz="1800" dirty="0">
                <a:latin typeface="Comic Sans MS" charset="0"/>
              </a:rPr>
              <a:t>Capture and go over “real-network” traces using Wireshark 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altLang="ja-JP" sz="1800" dirty="0">
                <a:latin typeface="Comic Sans MS" charset="0"/>
              </a:rPr>
              <a:t>Run emulations or experiments (e.g., using </a:t>
            </a:r>
            <a:r>
              <a:rPr lang="en-US" altLang="ja-JP" sz="1800" dirty="0" err="1">
                <a:latin typeface="Comic Sans MS" charset="0"/>
              </a:rPr>
              <a:t>Mininet</a:t>
            </a:r>
            <a:r>
              <a:rPr lang="en-US" altLang="ja-JP" sz="1800" dirty="0">
                <a:latin typeface="Comic Sans MS" charset="0"/>
              </a:rPr>
              <a:t> or GENI)  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altLang="ja-JP" sz="1800" dirty="0">
                <a:latin typeface="Comic Sans MS" charset="0"/>
              </a:rPr>
              <a:t>Quick Q&amp;As </a:t>
            </a:r>
            <a:r>
              <a:rPr lang="en-US" altLang="ja-JP" sz="1800" i="1" dirty="0">
                <a:latin typeface="Comic Sans MS" charset="0"/>
              </a:rPr>
              <a:t>a la </a:t>
            </a:r>
            <a:r>
              <a:rPr lang="en-US" altLang="ja-JP" sz="1800" dirty="0">
                <a:latin typeface="Comic Sans MS" charset="0"/>
              </a:rPr>
              <a:t>Jeopardy, and other “fun” exercises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 dirty="0">
                <a:latin typeface="Comic Sans MS" charset="0"/>
              </a:rPr>
              <a:t>Also help with programming projects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200" dirty="0">
                <a:latin typeface="Comic Sans MS" charset="0"/>
              </a:rPr>
              <a:t>Extra-credit </a:t>
            </a:r>
            <a:r>
              <a:rPr lang="en-US" sz="2200" dirty="0" err="1" smtClean="0">
                <a:latin typeface="Comic Sans MS" charset="0"/>
              </a:rPr>
              <a:t>mininet</a:t>
            </a:r>
            <a:r>
              <a:rPr lang="en-US" sz="2200" dirty="0" smtClean="0">
                <a:latin typeface="Comic Sans MS" charset="0"/>
              </a:rPr>
              <a:t>  or GENI </a:t>
            </a:r>
            <a:r>
              <a:rPr lang="en-US" sz="2200" dirty="0">
                <a:latin typeface="Comic Sans MS" charset="0"/>
              </a:rPr>
              <a:t>experiments/exercises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GB" sz="1800" dirty="0">
                <a:solidFill>
                  <a:srgbClr val="0000FF"/>
                </a:solidFill>
                <a:latin typeface="Comic Sans MS" charset="0"/>
                <a:ea typeface="宋体" charset="0"/>
                <a:cs typeface="宋体" charset="0"/>
              </a:rPr>
              <a:t>GENI (Global Environment for Network Innovation) Testbed</a:t>
            </a:r>
            <a:endParaRPr lang="en-US" sz="1800" dirty="0">
              <a:solidFill>
                <a:srgbClr val="0000FF"/>
              </a:solidFill>
              <a:latin typeface="Comic Sans MS" charset="0"/>
            </a:endParaRP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 dirty="0">
                <a:latin typeface="Comic Sans MS" charset="0"/>
              </a:rPr>
              <a:t>Allow you to set up “toy” networks and run experiments, or deploy your own algorithms and test them 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 dirty="0">
                <a:latin typeface="Comic Sans MS" charset="0"/>
              </a:rPr>
              <a:t>Will set accounts for you if interested -- details will follow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>
            <a:spLocks noGrp="1" noChangeArrowheads="1"/>
          </p:cNvSpPr>
          <p:nvPr>
            <p:ph type="title"/>
          </p:nvPr>
        </p:nvSpPr>
        <p:spPr>
          <a:xfrm>
            <a:off x="714375" y="142875"/>
            <a:ext cx="7769225" cy="1071563"/>
          </a:xfrm>
        </p:spPr>
        <p:txBody>
          <a:bodyPr lIns="0" tIns="0" rIns="0" bIns="0"/>
          <a:lstStyle/>
          <a:p>
            <a:pPr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  <a:tab pos="5908675" algn="l"/>
                <a:tab pos="6565900" algn="l"/>
                <a:tab pos="7223125" algn="l"/>
              </a:tabLst>
            </a:pPr>
            <a:r>
              <a:rPr lang="en-GB" altLang="zh-CN">
                <a:latin typeface="Comic Sans MS" charset="0"/>
                <a:ea typeface="宋体" charset="0"/>
                <a:cs typeface="宋体" charset="0"/>
              </a:rPr>
              <a:t>(Reference) Final Letter </a:t>
            </a:r>
            <a:br>
              <a:rPr lang="en-GB" altLang="zh-CN">
                <a:latin typeface="Comic Sans MS" charset="0"/>
                <a:ea typeface="宋体" charset="0"/>
                <a:cs typeface="宋体" charset="0"/>
              </a:rPr>
            </a:br>
            <a:r>
              <a:rPr lang="en-GB" altLang="zh-CN">
                <a:latin typeface="Comic Sans MS" charset="0"/>
                <a:ea typeface="宋体" charset="0"/>
                <a:cs typeface="宋体" charset="0"/>
              </a:rPr>
              <a:t>Grade Criteria</a:t>
            </a:r>
          </a:p>
        </p:txBody>
      </p:sp>
      <p:sp>
        <p:nvSpPr>
          <p:cNvPr id="39938" name="Content Placeholder 4"/>
          <p:cNvSpPr>
            <a:spLocks noGrp="1"/>
          </p:cNvSpPr>
          <p:nvPr>
            <p:ph idx="1"/>
          </p:nvPr>
        </p:nvSpPr>
        <p:spPr>
          <a:xfrm>
            <a:off x="642938" y="1373188"/>
            <a:ext cx="7769225" cy="4113212"/>
          </a:xfrm>
        </p:spPr>
        <p:txBody>
          <a:bodyPr/>
          <a:lstStyle/>
          <a:p>
            <a:pPr marL="34925">
              <a:spcBef>
                <a:spcPct val="0"/>
              </a:spcBef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</a:pP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[93 --100] A</a:t>
            </a:r>
          </a:p>
          <a:p>
            <a:pPr marL="34925">
              <a:spcBef>
                <a:spcPct val="0"/>
              </a:spcBef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</a:pP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[90 -- 93) A-</a:t>
            </a:r>
          </a:p>
          <a:p>
            <a:pPr marL="34925">
              <a:spcBef>
                <a:spcPct val="0"/>
              </a:spcBef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</a:pP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[85 -- 90) B+</a:t>
            </a:r>
          </a:p>
          <a:p>
            <a:pPr marL="34925">
              <a:spcBef>
                <a:spcPct val="0"/>
              </a:spcBef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</a:pP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[81 -- 85) B</a:t>
            </a:r>
          </a:p>
          <a:p>
            <a:pPr marL="34925">
              <a:spcBef>
                <a:spcPct val="0"/>
              </a:spcBef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</a:pP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[78 -- 81) B-</a:t>
            </a:r>
          </a:p>
          <a:p>
            <a:pPr marL="34925">
              <a:spcBef>
                <a:spcPct val="0"/>
              </a:spcBef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</a:pP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[73 -- 78) C+</a:t>
            </a:r>
          </a:p>
          <a:p>
            <a:pPr marL="34925">
              <a:spcBef>
                <a:spcPct val="0"/>
              </a:spcBef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</a:pP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[68 -- 73) C</a:t>
            </a:r>
          </a:p>
          <a:p>
            <a:pPr marL="34925">
              <a:spcBef>
                <a:spcPct val="0"/>
              </a:spcBef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</a:pP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[63 -- 68) C-</a:t>
            </a:r>
          </a:p>
          <a:p>
            <a:pPr marL="34925">
              <a:spcBef>
                <a:spcPct val="0"/>
              </a:spcBef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</a:pP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[58 -- 63) D+</a:t>
            </a:r>
          </a:p>
          <a:p>
            <a:pPr marL="34925">
              <a:spcBef>
                <a:spcPct val="0"/>
              </a:spcBef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</a:pP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[50 -- 58) D</a:t>
            </a:r>
          </a:p>
          <a:p>
            <a:pPr marL="34925">
              <a:spcBef>
                <a:spcPct val="0"/>
              </a:spcBef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</a:pP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[00 -- 50) F</a:t>
            </a:r>
          </a:p>
          <a:p>
            <a:pPr marL="34925">
              <a:tabLst>
                <a:tab pos="655638" algn="l"/>
                <a:tab pos="1312863" algn="l"/>
                <a:tab pos="1968500" algn="l"/>
                <a:tab pos="2625725" algn="l"/>
                <a:tab pos="3282950" algn="l"/>
                <a:tab pos="3938588" algn="l"/>
                <a:tab pos="4595813" algn="l"/>
                <a:tab pos="5253038" algn="l"/>
              </a:tabLst>
            </a:pPr>
            <a:endParaRPr lang="zh-CN" altLang="en-US" sz="2400">
              <a:latin typeface="Comic Sans MS" charset="0"/>
              <a:ea typeface="宋体" charset="0"/>
              <a:cs typeface="宋体" charset="0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3124200" y="1350963"/>
            <a:ext cx="5638800" cy="451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45" tIns="41473" rIns="82945" bIns="41473">
            <a:spAutoFit/>
          </a:bodyPr>
          <a:lstStyle>
            <a:lvl1pPr defTabSz="82867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82867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82867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82867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828675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8286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altLang="zh-CN">
                <a:solidFill>
                  <a:srgbClr val="000090"/>
                </a:solidFill>
                <a:latin typeface="Comic Sans MS" charset="0"/>
                <a:ea typeface="宋体" charset="0"/>
                <a:cs typeface="宋体" charset="0"/>
              </a:rPr>
              <a:t>Grades are to help you check how much you have learned, where your weaknesses lie.</a:t>
            </a:r>
          </a:p>
          <a:p>
            <a:endParaRPr lang="en-US" altLang="zh-CN">
              <a:solidFill>
                <a:srgbClr val="000090"/>
              </a:solidFill>
              <a:latin typeface="Comic Sans MS" charset="0"/>
              <a:ea typeface="宋体" charset="0"/>
              <a:cs typeface="宋体" charset="0"/>
            </a:endParaRPr>
          </a:p>
          <a:p>
            <a:r>
              <a:rPr lang="en-US" altLang="zh-CN">
                <a:solidFill>
                  <a:srgbClr val="000090"/>
                </a:solidFill>
                <a:latin typeface="Comic Sans MS" charset="0"/>
                <a:ea typeface="宋体" charset="0"/>
                <a:cs typeface="宋体" charset="0"/>
              </a:rPr>
              <a:t>No competition among members </a:t>
            </a:r>
          </a:p>
          <a:p>
            <a:r>
              <a:rPr lang="en-US" altLang="zh-CN">
                <a:solidFill>
                  <a:srgbClr val="000090"/>
                </a:solidFill>
                <a:latin typeface="Comic Sans MS" charset="0"/>
                <a:ea typeface="宋体" charset="0"/>
                <a:cs typeface="宋体" charset="0"/>
              </a:rPr>
              <a:t>of the class!</a:t>
            </a:r>
          </a:p>
          <a:p>
            <a:endParaRPr lang="en-US" altLang="zh-CN">
              <a:solidFill>
                <a:srgbClr val="000090"/>
              </a:solidFill>
              <a:latin typeface="Comic Sans MS" charset="0"/>
              <a:ea typeface="宋体" charset="0"/>
              <a:cs typeface="宋体" charset="0"/>
            </a:endParaRPr>
          </a:p>
          <a:p>
            <a:r>
              <a:rPr lang="en-US" altLang="zh-CN">
                <a:solidFill>
                  <a:srgbClr val="000090"/>
                </a:solidFill>
                <a:latin typeface="Comic Sans MS" charset="0"/>
                <a:ea typeface="宋体" charset="0"/>
                <a:cs typeface="宋体" charset="0"/>
              </a:rPr>
              <a:t>Everybody have a chance to get A if you work for it</a:t>
            </a:r>
          </a:p>
          <a:p>
            <a:endParaRPr lang="en-US" altLang="zh-CN">
              <a:solidFill>
                <a:srgbClr val="000090"/>
              </a:solidFill>
              <a:latin typeface="Comic Sans MS" charset="0"/>
              <a:ea typeface="宋体" charset="0"/>
              <a:cs typeface="宋体" charset="0"/>
            </a:endParaRPr>
          </a:p>
          <a:p>
            <a:r>
              <a:rPr lang="en-US" altLang="zh-CN">
                <a:solidFill>
                  <a:srgbClr val="000090"/>
                </a:solidFill>
                <a:latin typeface="Comic Sans MS" charset="0"/>
                <a:ea typeface="宋体" charset="0"/>
                <a:cs typeface="宋体" charset="0"/>
              </a:rPr>
              <a:t>Depends on the situations/progress, </a:t>
            </a:r>
          </a:p>
          <a:p>
            <a:r>
              <a:rPr lang="en-US" altLang="zh-CN">
                <a:solidFill>
                  <a:srgbClr val="000090"/>
                </a:solidFill>
                <a:latin typeface="Comic Sans MS" charset="0"/>
                <a:ea typeface="宋体" charset="0"/>
                <a:cs typeface="宋体" charset="0"/>
              </a:rPr>
              <a:t>extra credit would be available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41986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6FF7662D-EFCE-5B4F-8D71-1A743F4C7D89}" type="slidenum">
              <a:rPr lang="en-US" sz="1200">
                <a:latin typeface="Comic Sans MS" charset="0"/>
              </a:rPr>
              <a:pPr/>
              <a:t>14</a:t>
            </a:fld>
            <a:endParaRPr lang="en-US" sz="1200">
              <a:latin typeface="Comic Sans MS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r>
              <a:rPr lang="en-US">
                <a:latin typeface="Comic Sans MS" charset="0"/>
              </a:rPr>
              <a:t>Policies and Guidelines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8153400" cy="4419600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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GB" altLang="zh-CN">
                <a:latin typeface="Comic Sans MS" charset="0"/>
                <a:ea typeface="宋体" charset="0"/>
                <a:cs typeface="宋体" charset="0"/>
              </a:rPr>
              <a:t>Penalty on late homework/projects:</a:t>
            </a:r>
          </a:p>
          <a:p>
            <a:pPr marL="835025" lvl="1" indent="-377825">
              <a:lnSpc>
                <a:spcPct val="90000"/>
              </a:lnSpc>
              <a:buSzPct val="75000"/>
              <a:buFont typeface="Wingdings" charset="0"/>
              <a:buChar char="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GB" altLang="zh-CN">
                <a:solidFill>
                  <a:srgbClr val="3333CC"/>
                </a:solidFill>
                <a:latin typeface="Comic Sans MS" charset="0"/>
                <a:ea typeface="宋体" charset="0"/>
                <a:cs typeface="宋体" charset="0"/>
              </a:rPr>
              <a:t>Please start working on your hw &amp; programming assignments early and hand them in on time! </a:t>
            </a:r>
          </a:p>
          <a:p>
            <a:pPr marL="835025" lvl="1" indent="-377825">
              <a:lnSpc>
                <a:spcPct val="90000"/>
              </a:lnSpc>
              <a:buSzPct val="75000"/>
              <a:buFont typeface="Wingdings" charset="0"/>
              <a:buChar char="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>
                <a:latin typeface="Comic Sans MS" charset="0"/>
              </a:rPr>
              <a:t>Penalty: one day late 10% deduction, thereafter each extra late day 15% deduction. No credit if more than three-days late unless prior arrangements are made.</a:t>
            </a:r>
            <a:endParaRPr lang="en-GB" altLang="zh-CN">
              <a:solidFill>
                <a:srgbClr val="3333CC"/>
              </a:solidFill>
              <a:latin typeface="Comic Sans MS" charset="0"/>
              <a:ea typeface="宋体" charset="0"/>
              <a:cs typeface="宋体" charset="0"/>
            </a:endParaRPr>
          </a:p>
          <a:p>
            <a:pPr marL="457200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>
                <a:latin typeface="Comic Sans MS" charset="0"/>
              </a:rPr>
              <a:t>Make-up exams: only if final conflicts</a:t>
            </a:r>
          </a:p>
          <a:p>
            <a:pPr marL="457200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>
                <a:latin typeface="Comic Sans MS" charset="0"/>
              </a:rPr>
              <a:t>Incomplete: not granted, unless </a:t>
            </a:r>
          </a:p>
          <a:p>
            <a:pPr marL="835025" lvl="1" indent="-377825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>
                <a:latin typeface="Comic Sans MS" charset="0"/>
              </a:rPr>
              <a:t>proof of emergency,  </a:t>
            </a:r>
            <a:r>
              <a:rPr lang="ja-JP" altLang="en-US">
                <a:latin typeface="Comic Sans MS" charset="0"/>
              </a:rPr>
              <a:t>“</a:t>
            </a:r>
            <a:r>
              <a:rPr lang="en-US" altLang="ja-JP">
                <a:latin typeface="Comic Sans MS" charset="0"/>
              </a:rPr>
              <a:t>agreement for incomplete</a:t>
            </a:r>
            <a:r>
              <a:rPr lang="ja-JP" altLang="en-US">
                <a:latin typeface="Comic Sans MS" charset="0"/>
              </a:rPr>
              <a:t>”</a:t>
            </a:r>
            <a:r>
              <a:rPr lang="en-US" altLang="ja-JP">
                <a:latin typeface="Comic Sans MS" charset="0"/>
              </a:rPr>
              <a:t> form </a:t>
            </a:r>
          </a:p>
          <a:p>
            <a:pPr marL="457200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>
                <a:latin typeface="Comic Sans MS" charset="0"/>
              </a:rPr>
              <a:t>Scholastic behavior:</a:t>
            </a:r>
          </a:p>
          <a:p>
            <a:pPr marL="835025" lvl="1" indent="-377825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>
                <a:solidFill>
                  <a:srgbClr val="FF0000"/>
                </a:solidFill>
                <a:latin typeface="Comic Sans MS" charset="0"/>
              </a:rPr>
              <a:t>You are encouraged to study in groups, but do your work independently! </a:t>
            </a:r>
          </a:p>
          <a:p>
            <a:pPr marL="835025" lvl="1" indent="-377825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>
                <a:latin typeface="Comic Sans MS" charset="0"/>
              </a:rPr>
              <a:t>Acknowledge reference/credit if receive help!</a:t>
            </a:r>
          </a:p>
          <a:p>
            <a:pPr marL="835025" lvl="1" indent="-377825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>
                <a:latin typeface="Comic Sans MS" charset="0"/>
              </a:rPr>
              <a:t> University</a:t>
            </a:r>
            <a:r>
              <a:rPr lang="ja-JP" altLang="en-US">
                <a:latin typeface="Comic Sans MS" charset="0"/>
              </a:rPr>
              <a:t>’</a:t>
            </a:r>
            <a:r>
              <a:rPr lang="en-US" altLang="ja-JP">
                <a:latin typeface="Comic Sans MS" charset="0"/>
              </a:rPr>
              <a:t>s code of conduct enforced!</a:t>
            </a:r>
            <a:endParaRPr lang="en-US">
              <a:latin typeface="Comic Sans M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ChangeArrowheads="1"/>
          </p:cNvSpPr>
          <p:nvPr/>
        </p:nvSpPr>
        <p:spPr bwMode="auto">
          <a:xfrm>
            <a:off x="5181600" y="381000"/>
            <a:ext cx="3429000" cy="4572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sz="2200" dirty="0">
                <a:hlinkClick r:id="rId3"/>
              </a:rPr>
              <a:t>Tentative Schedule Webpage</a:t>
            </a:r>
            <a:endParaRPr lang="en-US" sz="2200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CSci4211:                     Logistics </a:t>
            </a:r>
          </a:p>
        </p:txBody>
      </p:sp>
      <p:sp>
        <p:nvSpPr>
          <p:cNvPr id="44035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49625F20-FE11-6A4A-A3D4-C36B2BDFB71A}" type="slidenum">
              <a:rPr lang="en-US" sz="1200">
                <a:latin typeface="Comic Sans MS" charset="0"/>
              </a:rPr>
              <a:pPr/>
              <a:t>15</a:t>
            </a:fld>
            <a:endParaRPr lang="en-US" sz="1200">
              <a:latin typeface="Comic Sans MS" charset="0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7625"/>
            <a:ext cx="5410200" cy="914400"/>
          </a:xfrm>
        </p:spPr>
        <p:txBody>
          <a:bodyPr/>
          <a:lstStyle/>
          <a:p>
            <a:pPr algn="l"/>
            <a:r>
              <a:rPr lang="en-US">
                <a:latin typeface="Comic Sans MS" charset="0"/>
              </a:rPr>
              <a:t>Course Overview</a:t>
            </a:r>
          </a:p>
        </p:txBody>
      </p:sp>
      <p:sp>
        <p:nvSpPr>
          <p:cNvPr id="440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1066800"/>
            <a:ext cx="8153400" cy="4038600"/>
          </a:xfrm>
        </p:spPr>
        <p:txBody>
          <a:bodyPr/>
          <a:lstStyle/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Introduction: what is computer network/Internet?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Application Layer and Internet Applications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web, email, DNS, BSD socket programming interface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Transport Layer 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UDP, TCP, reliable transfer protocols, congestion control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Network Layer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Data Plane vs. Control Plane, Service models, SDN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IP addressing, forwarding, NAT, etc.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routing algorithms &amp; routing protocol, SDN controller, mininet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Data Link Layer and Mobile Wireless Networks</a:t>
            </a:r>
          </a:p>
          <a:p>
            <a:pPr marL="838200" lvl="1" indent="-3810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1800">
                <a:latin typeface="Comic Sans MS" charset="0"/>
              </a:rPr>
              <a:t>Media Access Ctrl, Local Area Networks (Ethernet), Switches, 802.11 WiFi, Cellular Networks, Mobility Management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Summary: Putting Everything Together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endParaRPr lang="en-US" sz="1800">
              <a:latin typeface="Comic Sans M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CSci4211:                     Logistics </a:t>
            </a:r>
          </a:p>
        </p:txBody>
      </p:sp>
      <p:sp>
        <p:nvSpPr>
          <p:cNvPr id="4608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546D9AFE-151C-EA4F-A685-4141B818947C}" type="slidenum">
              <a:rPr lang="en-US" sz="1200">
                <a:latin typeface="Comic Sans MS" charset="0"/>
              </a:rPr>
              <a:pPr/>
              <a:t>16</a:t>
            </a:fld>
            <a:endParaRPr lang="en-US" sz="1200">
              <a:latin typeface="Comic Sans MS" charset="0"/>
            </a:endParaRPr>
          </a:p>
        </p:txBody>
      </p:sp>
      <p:sp>
        <p:nvSpPr>
          <p:cNvPr id="4608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dirty="0">
                <a:latin typeface="Comic Sans MS" charset="0"/>
                <a:hlinkClick r:id="rId3" invalidUrl="http://www-users.cselabs.umn.edu/classes/Spring-2020/csci4211/index.php?page=important dates"/>
              </a:rPr>
              <a:t>Important Dates </a:t>
            </a:r>
            <a:r>
              <a:rPr lang="en-US" dirty="0">
                <a:latin typeface="Comic Sans MS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Comic Sans MS" charset="0"/>
              </a:rPr>
              <a:t>Tentative</a:t>
            </a:r>
            <a:r>
              <a:rPr lang="en-US" dirty="0">
                <a:latin typeface="Comic Sans MS" charset="0"/>
              </a:rPr>
              <a:t>)</a:t>
            </a:r>
          </a:p>
        </p:txBody>
      </p:sp>
      <p:graphicFrame>
        <p:nvGraphicFramePr>
          <p:cNvPr id="39011" name="Group 1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408691"/>
              </p:ext>
            </p:extLst>
          </p:nvPr>
        </p:nvGraphicFramePr>
        <p:xfrm>
          <a:off x="685800" y="990600"/>
          <a:ext cx="7924800" cy="5048322"/>
        </p:xfrm>
        <a:graphic>
          <a:graphicData uri="http://schemas.openxmlformats.org/drawingml/2006/table">
            <a:tbl>
              <a:tblPr/>
              <a:tblGrid>
                <a:gridCol w="233521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46538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732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5095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Task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Out Date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Due Date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Grade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400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Written HW Assignment 1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rd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Feb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21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st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Feb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10%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6829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Project 1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29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Jan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28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Feb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8%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01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Take-home Quiz I 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26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Feb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rd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Mar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10%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730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Project 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26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Feb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16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Mar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9%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4002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Written Hw  Assignment 2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18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Mar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rd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Apr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10%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873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Project 3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25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Mar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10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Apr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9%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65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Take-home Quiz II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8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Apr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14</a:t>
                      </a:r>
                      <a:r>
                        <a:rPr kumimoji="0" 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Apr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10%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571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Project 4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13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Apr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st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May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9%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72069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Final Exam</a:t>
                      </a:r>
                    </a:p>
                  </a:txBody>
                  <a:tcPr marT="45706" marB="457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12</a:t>
                      </a:r>
                      <a:r>
                        <a:rPr kumimoji="0" lang="en-US" sz="18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th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May (in class)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8:00pm- 10:00pm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ＭＳ Ｐゴシック" charset="0"/>
                          <a:cs typeface="ＭＳ Ｐゴシック" charset="0"/>
                        </a:rPr>
                        <a:t>25%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505200" y="6248400"/>
            <a:ext cx="2819400" cy="457200"/>
          </a:xfrm>
        </p:spPr>
        <p:txBody>
          <a:bodyPr/>
          <a:lstStyle/>
          <a:p>
            <a:pPr algn="r">
              <a:defRPr/>
            </a:pPr>
            <a:r>
              <a:rPr lang="en-GB" altLang="zh-CN" dirty="0">
                <a:ea typeface="ＭＳ Ｐゴシック" charset="0"/>
              </a:rPr>
              <a:t>CSci4211:                     Logistics </a:t>
            </a:r>
          </a:p>
        </p:txBody>
      </p:sp>
      <p:sp>
        <p:nvSpPr>
          <p:cNvPr id="48130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01825" cy="4540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00EF87A3-614E-1D41-9923-BEA471DDEC9B}" type="slidenum">
              <a:rPr lang="en-GB" altLang="zh-CN" sz="1200">
                <a:solidFill>
                  <a:srgbClr val="000000"/>
                </a:solidFill>
                <a:latin typeface="Comic Sans MS" charset="0"/>
                <a:ea typeface="宋体" charset="0"/>
                <a:cs typeface="宋体" charset="0"/>
              </a:rPr>
              <a:pPr/>
              <a:t>17</a:t>
            </a:fld>
            <a:endParaRPr lang="en-GB" altLang="zh-CN" sz="1200">
              <a:solidFill>
                <a:srgbClr val="000000"/>
              </a:solidFill>
              <a:latin typeface="Comic Sans MS" charset="0"/>
              <a:ea typeface="宋体" charset="0"/>
              <a:cs typeface="宋体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28613"/>
            <a:ext cx="7772400" cy="711200"/>
          </a:xfrm>
        </p:spPr>
        <p:txBody>
          <a:bodyPr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zh-CN">
                <a:latin typeface="Comic Sans MS" charset="0"/>
                <a:ea typeface="宋体" charset="0"/>
                <a:cs typeface="宋体" charset="0"/>
              </a:rPr>
              <a:t>Ways to you reach me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7662" y="1077913"/>
            <a:ext cx="9024938" cy="4573560"/>
          </a:xfrm>
        </p:spPr>
        <p:txBody>
          <a:bodyPr wrap="square">
            <a:spAutoFit/>
          </a:bodyPr>
          <a:lstStyle/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GB" altLang="zh-CN" dirty="0">
                <a:latin typeface="Comic Sans MS" charset="0"/>
                <a:ea typeface="宋体" charset="0"/>
                <a:cs typeface="宋体" charset="0"/>
              </a:rPr>
              <a:t>My Regular Office Hours:</a:t>
            </a:r>
            <a:br>
              <a:rPr lang="en-GB" altLang="zh-CN" dirty="0">
                <a:latin typeface="Comic Sans MS" charset="0"/>
                <a:ea typeface="宋体" charset="0"/>
                <a:cs typeface="宋体" charset="0"/>
              </a:rPr>
            </a:br>
            <a:r>
              <a:rPr lang="en-US" altLang="zh-CN" dirty="0" smtClean="0">
                <a:latin typeface="Comic Sans MS" charset="0"/>
                <a:ea typeface="宋体" charset="0"/>
                <a:cs typeface="宋体" charset="0"/>
              </a:rPr>
              <a:t>4:00PM-5:00PM</a:t>
            </a:r>
            <a:r>
              <a:rPr lang="en-US" altLang="zh-CN" dirty="0">
                <a:latin typeface="Comic Sans MS" charset="0"/>
                <a:ea typeface="宋体" charset="0"/>
                <a:cs typeface="宋体" charset="0"/>
              </a:rPr>
              <a:t>, </a:t>
            </a:r>
            <a:r>
              <a:rPr lang="en-US" altLang="zh-CN" dirty="0" smtClean="0">
                <a:latin typeface="Comic Sans MS" charset="0"/>
                <a:ea typeface="宋体" charset="0"/>
                <a:cs typeface="宋体" charset="0"/>
              </a:rPr>
              <a:t>M/W; </a:t>
            </a:r>
            <a:r>
              <a:rPr lang="en-US" altLang="zh-CN" dirty="0">
                <a:latin typeface="Comic Sans MS" charset="0"/>
                <a:ea typeface="宋体" charset="0"/>
                <a:cs typeface="宋体" charset="0"/>
              </a:rPr>
              <a:t>DTC </a:t>
            </a:r>
            <a:r>
              <a:rPr lang="en-US" altLang="zh-CN" dirty="0" smtClean="0">
                <a:latin typeface="Comic Sans MS" charset="0"/>
                <a:ea typeface="宋体" charset="0"/>
                <a:cs typeface="宋体" charset="0"/>
              </a:rPr>
              <a:t>489 or DTC atrium</a:t>
            </a:r>
            <a:endParaRPr lang="en-US" altLang="zh-CN" dirty="0">
              <a:latin typeface="Comic Sans MS" charset="0"/>
              <a:ea typeface="宋体" charset="0"/>
              <a:cs typeface="宋体" charset="0"/>
            </a:endParaRP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 dirty="0" smtClean="0">
                <a:latin typeface="Comic Sans MS" charset="0"/>
                <a:ea typeface="宋体" charset="0"/>
                <a:cs typeface="宋体" charset="0"/>
              </a:rPr>
              <a:t>On-demand </a:t>
            </a:r>
            <a:r>
              <a:rPr lang="en-US" altLang="zh-CN" dirty="0">
                <a:latin typeface="Comic Sans MS" charset="0"/>
                <a:ea typeface="宋体" charset="0"/>
                <a:cs typeface="宋体" charset="0"/>
              </a:rPr>
              <a:t>Office Hours by appointment</a:t>
            </a: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 dirty="0">
                <a:latin typeface="Comic Sans MS" charset="0"/>
                <a:ea typeface="宋体" charset="0"/>
                <a:cs typeface="宋体" charset="0"/>
              </a:rPr>
              <a:t>Personal Email:  </a:t>
            </a:r>
            <a:r>
              <a:rPr lang="en-US" altLang="zh-CN" dirty="0" err="1">
                <a:solidFill>
                  <a:schemeClr val="accent2"/>
                </a:solidFill>
                <a:latin typeface="Comic Sans MS" charset="0"/>
                <a:ea typeface="宋体" charset="0"/>
                <a:cs typeface="宋体" charset="0"/>
              </a:rPr>
              <a:t>zhzhang@cs.umn.edu</a:t>
            </a:r>
            <a:r>
              <a:rPr lang="en-US" altLang="zh-CN" dirty="0">
                <a:latin typeface="Comic Sans MS" charset="0"/>
                <a:ea typeface="宋体" charset="0"/>
                <a:cs typeface="宋体" charset="0"/>
              </a:rPr>
              <a:t> </a:t>
            </a: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 dirty="0">
                <a:latin typeface="Comic Sans MS" charset="0"/>
                <a:ea typeface="宋体" charset="0"/>
                <a:cs typeface="宋体" charset="0"/>
              </a:rPr>
              <a:t>Help-Hot Line:  </a:t>
            </a:r>
          </a:p>
          <a:p>
            <a:pPr marL="0" indent="0">
              <a:buClr>
                <a:srgbClr val="000099"/>
              </a:buClr>
              <a:buSzPct val="75000"/>
              <a:buNone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 dirty="0" smtClean="0">
                <a:solidFill>
                  <a:schemeClr val="accent2"/>
                </a:solidFill>
                <a:latin typeface="Comic Sans MS" charset="0"/>
                <a:ea typeface="宋体" charset="0"/>
                <a:cs typeface="宋体" charset="0"/>
              </a:rPr>
              <a:t>        umn-csci4211 </a:t>
            </a:r>
            <a:r>
              <a:rPr lang="en-US" altLang="zh-CN" dirty="0" err="1" smtClean="0">
                <a:solidFill>
                  <a:schemeClr val="accent2"/>
                </a:solidFill>
                <a:latin typeface="Comic Sans MS" charset="0"/>
                <a:ea typeface="宋体" charset="0"/>
                <a:cs typeface="宋体" charset="0"/>
              </a:rPr>
              <a:t>help@googlegroups.com</a:t>
            </a:r>
            <a:endParaRPr lang="en-US" altLang="zh-CN" dirty="0">
              <a:solidFill>
                <a:schemeClr val="accent2"/>
              </a:solidFill>
              <a:latin typeface="Comic Sans MS" charset="0"/>
              <a:ea typeface="宋体" charset="0"/>
              <a:cs typeface="宋体" charset="0"/>
            </a:endParaRP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 dirty="0">
                <a:latin typeface="Comic Sans MS" charset="0"/>
                <a:ea typeface="宋体" charset="0"/>
                <a:cs typeface="宋体" charset="0"/>
              </a:rPr>
              <a:t>Telephone 612-625-8568/612-625-5329</a:t>
            </a: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 dirty="0">
                <a:latin typeface="Comic Sans MS" charset="0"/>
                <a:ea typeface="宋体" charset="0"/>
                <a:cs typeface="宋体" charset="0"/>
              </a:rPr>
              <a:t>Class mailing list  (I will keep monitoring)</a:t>
            </a: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 dirty="0">
                <a:latin typeface="Comic Sans MS" charset="0"/>
                <a:ea typeface="宋体" charset="0"/>
                <a:cs typeface="宋体" charset="0"/>
              </a:rPr>
              <a:t>Catch me before and after class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200" y="6172200"/>
            <a:ext cx="3124200" cy="457200"/>
          </a:xfrm>
        </p:spPr>
        <p:txBody>
          <a:bodyPr/>
          <a:lstStyle/>
          <a:p>
            <a:pPr algn="r">
              <a:defRPr/>
            </a:pPr>
            <a:r>
              <a:rPr lang="en-GB" altLang="zh-CN" dirty="0">
                <a:ea typeface="ＭＳ Ｐゴシック" charset="0"/>
              </a:rPr>
              <a:t>CSci4211:                     Logistics </a:t>
            </a:r>
          </a:p>
        </p:txBody>
      </p:sp>
      <p:sp>
        <p:nvSpPr>
          <p:cNvPr id="50178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01825" cy="4540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2347D993-E5B7-5247-A478-B731E75AC5AD}" type="slidenum">
              <a:rPr lang="en-GB" altLang="zh-CN" sz="1200">
                <a:solidFill>
                  <a:srgbClr val="000000"/>
                </a:solidFill>
                <a:latin typeface="Comic Sans MS" charset="0"/>
                <a:ea typeface="宋体" charset="0"/>
                <a:cs typeface="宋体" charset="0"/>
              </a:rPr>
              <a:pPr/>
              <a:t>18</a:t>
            </a:fld>
            <a:endParaRPr lang="en-GB" altLang="zh-CN" sz="1200">
              <a:solidFill>
                <a:srgbClr val="000000"/>
              </a:solidFill>
              <a:latin typeface="Comic Sans MS" charset="0"/>
              <a:ea typeface="宋体" charset="0"/>
              <a:cs typeface="宋体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" y="181352"/>
            <a:ext cx="7910513" cy="584200"/>
          </a:xfrm>
        </p:spPr>
        <p:txBody>
          <a:bodyPr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zh-CN" sz="3200" dirty="0">
                <a:latin typeface="Comic Sans MS" charset="0"/>
                <a:ea typeface="宋体" charset="0"/>
                <a:cs typeface="宋体" charset="0"/>
              </a:rPr>
              <a:t>Ways </a:t>
            </a:r>
            <a:r>
              <a:rPr lang="en-GB" altLang="zh-CN" sz="3200" dirty="0" smtClean="0">
                <a:latin typeface="Comic Sans MS" charset="0"/>
                <a:ea typeface="宋体" charset="0"/>
                <a:cs typeface="宋体" charset="0"/>
              </a:rPr>
              <a:t>You </a:t>
            </a:r>
            <a:r>
              <a:rPr lang="en-GB" altLang="zh-CN" sz="3200" smtClean="0">
                <a:latin typeface="Comic Sans MS" charset="0"/>
                <a:ea typeface="宋体" charset="0"/>
                <a:cs typeface="宋体" charset="0"/>
              </a:rPr>
              <a:t>Can Reach TAs</a:t>
            </a:r>
            <a:endParaRPr lang="en-GB" altLang="zh-CN" sz="3200" dirty="0">
              <a:latin typeface="Comic Sans MS" charset="0"/>
              <a:ea typeface="宋体" charset="0"/>
              <a:cs typeface="宋体" charset="0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533400"/>
            <a:ext cx="8991600" cy="5533823"/>
          </a:xfrm>
        </p:spPr>
        <p:txBody>
          <a:bodyPr wrap="square">
            <a:spAutoFit/>
          </a:bodyPr>
          <a:lstStyle/>
          <a:p>
            <a:pPr marL="533400" indent="-533400">
              <a:buClr>
                <a:srgbClr val="000099"/>
              </a:buClr>
              <a:buSzPct val="75000"/>
              <a:buFont typeface="Wingdings" charset="0"/>
              <a:buNone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endParaRPr lang="en-GB" altLang="zh-CN" sz="800" dirty="0">
              <a:latin typeface="Comic Sans MS" charset="0"/>
              <a:ea typeface="宋体" charset="0"/>
              <a:cs typeface="宋体" charset="0"/>
            </a:endParaRPr>
          </a:p>
          <a:p>
            <a:pPr marL="533400" indent="-533400">
              <a:buClr>
                <a:srgbClr val="000099"/>
              </a:buClr>
              <a:buSzPct val="75000"/>
              <a:buFontTx/>
              <a:buNone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GB" altLang="zh-CN" dirty="0">
                <a:solidFill>
                  <a:srgbClr val="0000FF"/>
                </a:solidFill>
                <a:latin typeface="Comic Sans MS" charset="0"/>
                <a:ea typeface="宋体" charset="0"/>
                <a:cs typeface="宋体" charset="0"/>
              </a:rPr>
              <a:t>Office Hours (still tentative): </a:t>
            </a: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Char char="§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GB" altLang="zh-CN" sz="2400" dirty="0" smtClean="0">
                <a:latin typeface="Comic Sans MS" charset="0"/>
                <a:ea typeface="宋体" charset="0"/>
                <a:cs typeface="宋体" charset="0"/>
              </a:rPr>
              <a:t>Jason Carpenter (50%):  carpe415</a:t>
            </a:r>
            <a:r>
              <a:rPr lang="en-GB" altLang="zh-CN" sz="2400" dirty="0" smtClean="0">
                <a:latin typeface="Comic Sans MS" charset="0"/>
                <a:ea typeface="宋体" charset="0"/>
                <a:cs typeface="宋体" charset="0"/>
                <a:hlinkClick r:id="rId3"/>
              </a:rPr>
              <a:t>@umn.edu</a:t>
            </a:r>
            <a:r>
              <a:rPr lang="en-GB" altLang="zh-CN" sz="2400" dirty="0" smtClean="0">
                <a:latin typeface="Comic Sans MS" charset="0"/>
                <a:ea typeface="宋体" charset="0"/>
                <a:cs typeface="宋体" charset="0"/>
              </a:rPr>
              <a:t>, KH </a:t>
            </a:r>
            <a:r>
              <a:rPr lang="en-GB" altLang="zh-CN" sz="2400" dirty="0">
                <a:latin typeface="Comic Sans MS" charset="0"/>
                <a:ea typeface="宋体" charset="0"/>
                <a:cs typeface="宋体" charset="0"/>
              </a:rPr>
              <a:t>2-209 </a:t>
            </a:r>
            <a:endParaRPr lang="en-GB" altLang="zh-CN" sz="2400" dirty="0" smtClean="0">
              <a:latin typeface="Comic Sans MS" charset="0"/>
              <a:ea typeface="宋体" charset="0"/>
              <a:cs typeface="宋体" charset="0"/>
            </a:endParaRPr>
          </a:p>
          <a:p>
            <a:pPr marL="0" indent="0">
              <a:buClr>
                <a:srgbClr val="000099"/>
              </a:buClr>
              <a:buSzPct val="75000"/>
              <a:buNone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GB" altLang="zh-CN" sz="2400" dirty="0" smtClean="0">
                <a:latin typeface="Comic Sans MS" charset="0"/>
                <a:ea typeface="宋体" charset="0"/>
                <a:cs typeface="宋体" charset="0"/>
              </a:rPr>
              <a:t>	  Tue: 11am – 12pm; Thu: 10am -11am</a:t>
            </a: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Char char="§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GB" altLang="zh-CN" sz="2400" dirty="0" smtClean="0">
                <a:latin typeface="Comic Sans MS" charset="0"/>
                <a:ea typeface="宋体" charset="0"/>
                <a:cs typeface="宋体" charset="0"/>
              </a:rPr>
              <a:t>Tim </a:t>
            </a:r>
            <a:r>
              <a:rPr lang="en-GB" altLang="zh-CN" sz="2400" dirty="0" err="1" smtClean="0">
                <a:latin typeface="Comic Sans MS" charset="0"/>
                <a:ea typeface="宋体" charset="0"/>
                <a:cs typeface="宋体" charset="0"/>
              </a:rPr>
              <a:t>Salos</a:t>
            </a:r>
            <a:r>
              <a:rPr lang="en-GB" altLang="zh-CN" sz="2400" dirty="0" smtClean="0">
                <a:latin typeface="Comic Sans MS" charset="0"/>
                <a:ea typeface="宋体" charset="0"/>
                <a:cs typeface="宋体" charset="0"/>
              </a:rPr>
              <a:t> (50%): </a:t>
            </a:r>
            <a:r>
              <a:rPr lang="en-GB" altLang="zh-CN" sz="2400" dirty="0" smtClean="0">
                <a:latin typeface="Comic Sans MS" charset="0"/>
                <a:ea typeface="宋体" charset="0"/>
                <a:cs typeface="宋体" charset="0"/>
                <a:hlinkClick r:id="rId4"/>
              </a:rPr>
              <a:t>salox049@umn.edu</a:t>
            </a:r>
            <a:r>
              <a:rPr lang="en-GB" altLang="zh-CN" sz="2400" dirty="0" smtClean="0">
                <a:latin typeface="Comic Sans MS" charset="0"/>
                <a:ea typeface="宋体" charset="0"/>
                <a:cs typeface="宋体" charset="0"/>
              </a:rPr>
              <a:t>, KH 2-209</a:t>
            </a:r>
          </a:p>
          <a:p>
            <a:pPr marL="0" indent="0">
              <a:buClr>
                <a:srgbClr val="000099"/>
              </a:buClr>
              <a:buSzPct val="75000"/>
              <a:buNone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GB" altLang="zh-CN" sz="2400" dirty="0">
                <a:latin typeface="Comic Sans MS" charset="0"/>
                <a:ea typeface="宋体" charset="0"/>
                <a:cs typeface="宋体" charset="0"/>
              </a:rPr>
              <a:t> </a:t>
            </a:r>
            <a:r>
              <a:rPr lang="en-GB" altLang="zh-CN" sz="2400" dirty="0" smtClean="0">
                <a:latin typeface="Comic Sans MS" charset="0"/>
                <a:ea typeface="宋体" charset="0"/>
                <a:cs typeface="宋体" charset="0"/>
              </a:rPr>
              <a:t>  	   Tue: 4pm – 5pm; Fri: 1pm – 2pm </a:t>
            </a:r>
            <a:endParaRPr lang="en-GB" altLang="zh-CN" sz="2400" dirty="0">
              <a:latin typeface="Comic Sans MS" charset="0"/>
              <a:ea typeface="宋体" charset="0"/>
              <a:cs typeface="宋体" charset="0"/>
            </a:endParaRP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Char char="§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 sz="2400" dirty="0" err="1" smtClean="0">
                <a:latin typeface="Comic Sans MS" charset="0"/>
                <a:ea typeface="宋体" charset="0"/>
                <a:cs typeface="宋体" charset="0"/>
              </a:rPr>
              <a:t>Ziyan</a:t>
            </a:r>
            <a:r>
              <a:rPr lang="en-US" altLang="zh-CN" sz="2400" dirty="0" smtClean="0">
                <a:latin typeface="Comic Sans MS" charset="0"/>
                <a:ea typeface="宋体" charset="0"/>
                <a:cs typeface="宋体" charset="0"/>
              </a:rPr>
              <a:t> Wu (25%) </a:t>
            </a:r>
            <a:r>
              <a:rPr lang="en-US" altLang="zh-CN" sz="2400" dirty="0" smtClean="0">
                <a:latin typeface="Comic Sans MS" charset="0"/>
                <a:ea typeface="宋体" charset="0"/>
                <a:cs typeface="宋体" charset="0"/>
                <a:hlinkClick r:id="rId5"/>
              </a:rPr>
              <a:t>wu000598@umn.edu</a:t>
            </a:r>
            <a:r>
              <a:rPr lang="en-US" altLang="zh-CN" sz="2400" dirty="0" smtClean="0">
                <a:latin typeface="Comic Sans MS" charset="0"/>
                <a:ea typeface="宋体" charset="0"/>
                <a:cs typeface="宋体" charset="0"/>
              </a:rPr>
              <a:t>, KH 2-209 </a:t>
            </a:r>
            <a:r>
              <a:rPr lang="en-US" altLang="zh-CN" sz="2400" dirty="0">
                <a:latin typeface="Comic Sans MS" charset="0"/>
                <a:ea typeface="宋体" charset="0"/>
                <a:cs typeface="宋体" charset="0"/>
              </a:rPr>
              <a:t> </a:t>
            </a:r>
            <a:endParaRPr lang="en-US" altLang="zh-CN" sz="2400" dirty="0" smtClean="0">
              <a:latin typeface="Comic Sans MS" charset="0"/>
              <a:ea typeface="宋体" charset="0"/>
              <a:cs typeface="宋体" charset="0"/>
            </a:endParaRPr>
          </a:p>
          <a:p>
            <a:pPr marL="0" indent="0">
              <a:buClr>
                <a:srgbClr val="000099"/>
              </a:buClr>
              <a:buSzPct val="75000"/>
              <a:buNone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 sz="2400" dirty="0">
                <a:latin typeface="Comic Sans MS" charset="0"/>
                <a:ea typeface="宋体" charset="0"/>
                <a:cs typeface="宋体" charset="0"/>
              </a:rPr>
              <a:t> </a:t>
            </a:r>
            <a:r>
              <a:rPr lang="en-US" altLang="zh-CN" sz="2400" dirty="0" smtClean="0">
                <a:latin typeface="Comic Sans MS" charset="0"/>
                <a:ea typeface="宋体" charset="0"/>
                <a:cs typeface="宋体" charset="0"/>
              </a:rPr>
              <a:t>        Mon </a:t>
            </a:r>
            <a:r>
              <a:rPr lang="en-GB" altLang="zh-CN" sz="2400" dirty="0" smtClean="0">
                <a:latin typeface="Comic Sans MS" charset="0"/>
                <a:ea typeface="宋体" charset="0"/>
                <a:cs typeface="宋体" charset="0"/>
              </a:rPr>
              <a:t>1pm-2pm </a:t>
            </a:r>
            <a:r>
              <a:rPr lang="en-GB" altLang="zh-CN" sz="2400" dirty="0">
                <a:latin typeface="Comic Sans MS" charset="0"/>
                <a:ea typeface="宋体" charset="0"/>
                <a:cs typeface="宋体" charset="0"/>
              </a:rPr>
              <a:t>; KH </a:t>
            </a:r>
            <a:r>
              <a:rPr lang="en-GB" altLang="zh-CN" sz="2400" dirty="0" smtClean="0">
                <a:latin typeface="Comic Sans MS" charset="0"/>
                <a:ea typeface="宋体" charset="0"/>
                <a:cs typeface="宋体" charset="0"/>
              </a:rPr>
              <a:t>2-209</a:t>
            </a:r>
            <a:endParaRPr lang="en-US" altLang="zh-CN" sz="400" dirty="0">
              <a:latin typeface="Comic Sans MS" charset="0"/>
              <a:ea typeface="宋体" charset="0"/>
              <a:cs typeface="宋体" charset="0"/>
            </a:endParaRP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Char char="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 sz="2400" dirty="0">
                <a:latin typeface="Comic Sans MS" charset="0"/>
                <a:ea typeface="宋体" charset="0"/>
                <a:cs typeface="宋体" charset="0"/>
              </a:rPr>
              <a:t>On-demand Office Hours by appointment</a:t>
            </a: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Char char="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 sz="2400" dirty="0">
                <a:latin typeface="Comic Sans MS" charset="0"/>
                <a:ea typeface="宋体" charset="0"/>
                <a:cs typeface="宋体" charset="0"/>
              </a:rPr>
              <a:t>Help-Hot Line: </a:t>
            </a:r>
            <a:r>
              <a:rPr lang="en-US" altLang="zh-CN" sz="2400" dirty="0" smtClean="0">
                <a:latin typeface="Comic Sans MS" charset="0"/>
                <a:ea typeface="宋体" charset="0"/>
                <a:cs typeface="宋体" charset="0"/>
              </a:rPr>
              <a:t> </a:t>
            </a:r>
            <a:r>
              <a:rPr lang="en-US" altLang="zh-CN" sz="2400" dirty="0" smtClean="0">
                <a:solidFill>
                  <a:schemeClr val="accent2"/>
                </a:solidFill>
                <a:latin typeface="Comic Sans MS" charset="0"/>
                <a:ea typeface="宋体" charset="0"/>
                <a:cs typeface="宋体" charset="0"/>
              </a:rPr>
              <a:t>umn-csci4211-help@googlegroups.com</a:t>
            </a:r>
            <a:endParaRPr lang="en-US" altLang="zh-CN" sz="2400" dirty="0">
              <a:solidFill>
                <a:schemeClr val="accent2"/>
              </a:solidFill>
              <a:latin typeface="Comic Sans MS" charset="0"/>
              <a:ea typeface="宋体" charset="0"/>
              <a:cs typeface="宋体" charset="0"/>
            </a:endParaRP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Char char="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 sz="2400" dirty="0">
                <a:latin typeface="Comic Sans MS" charset="0"/>
                <a:ea typeface="宋体" charset="0"/>
                <a:cs typeface="宋体" charset="0"/>
              </a:rPr>
              <a:t>Class Forum/Mailing List</a:t>
            </a:r>
            <a:endParaRPr lang="en-US" altLang="zh-CN" sz="2400" dirty="0">
              <a:solidFill>
                <a:srgbClr val="FF0000"/>
              </a:solidFill>
              <a:latin typeface="Comic Sans MS" charset="0"/>
              <a:ea typeface="宋体" charset="0"/>
              <a:cs typeface="宋体" charset="0"/>
            </a:endParaRP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Char char="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 sz="2400" dirty="0">
                <a:solidFill>
                  <a:srgbClr val="FF0000"/>
                </a:solidFill>
                <a:latin typeface="Comic Sans MS" charset="0"/>
                <a:ea typeface="宋体" charset="0"/>
                <a:cs typeface="宋体" charset="0"/>
              </a:rPr>
              <a:t>Tell us if you have any concern and complain about TA performance</a:t>
            </a:r>
            <a:r>
              <a:rPr lang="en-US" altLang="zh-CN" sz="2400" dirty="0">
                <a:latin typeface="Comic Sans MS" charset="0"/>
                <a:ea typeface="宋体" charset="0"/>
                <a:cs typeface="宋体" charset="0"/>
              </a:rPr>
              <a:t> 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895600" y="6248400"/>
            <a:ext cx="2590800" cy="457200"/>
          </a:xfrm>
        </p:spPr>
        <p:txBody>
          <a:bodyPr/>
          <a:lstStyle/>
          <a:p>
            <a:pPr algn="r">
              <a:defRPr/>
            </a:pPr>
            <a:r>
              <a:rPr lang="en-GB" altLang="zh-CN" dirty="0">
                <a:ea typeface="ＭＳ Ｐゴシック" charset="0"/>
              </a:rPr>
              <a:t>CSci4211:                     Logistics </a:t>
            </a:r>
          </a:p>
        </p:txBody>
      </p:sp>
      <p:sp>
        <p:nvSpPr>
          <p:cNvPr id="5222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01825" cy="4540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EA7C7AF-2B89-A84B-8368-EA8CBB4F165B}" type="slidenum">
              <a:rPr lang="en-GB" altLang="zh-CN" sz="1200">
                <a:solidFill>
                  <a:srgbClr val="000000"/>
                </a:solidFill>
                <a:latin typeface="Comic Sans MS" charset="0"/>
                <a:ea typeface="宋体" charset="0"/>
                <a:cs typeface="宋体" charset="0"/>
              </a:rPr>
              <a:pPr/>
              <a:t>19</a:t>
            </a:fld>
            <a:endParaRPr lang="en-GB" altLang="zh-CN" sz="1200">
              <a:solidFill>
                <a:srgbClr val="000000"/>
              </a:solidFill>
              <a:latin typeface="Comic Sans MS" charset="0"/>
              <a:ea typeface="宋体" charset="0"/>
              <a:cs typeface="宋体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255588"/>
            <a:ext cx="7772400" cy="711200"/>
          </a:xfrm>
        </p:spPr>
        <p:txBody>
          <a:bodyPr>
            <a:sp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zh-CN">
                <a:latin typeface="Comic Sans MS" charset="0"/>
                <a:ea typeface="宋体" charset="0"/>
                <a:cs typeface="宋体" charset="0"/>
              </a:rPr>
              <a:t>Ways we reach you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424863" cy="3625850"/>
          </a:xfrm>
        </p:spPr>
        <p:txBody>
          <a:bodyPr>
            <a:spAutoFit/>
          </a:bodyPr>
          <a:lstStyle/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>
                <a:latin typeface="Comic Sans MS" charset="0"/>
                <a:ea typeface="宋体" charset="0"/>
                <a:cs typeface="宋体" charset="0"/>
              </a:rPr>
              <a:t>Lecture </a:t>
            </a: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>
                <a:latin typeface="Comic Sans MS" charset="0"/>
                <a:ea typeface="宋体" charset="0"/>
                <a:cs typeface="宋体" charset="0"/>
              </a:rPr>
              <a:t>Email &amp; Class mailing list</a:t>
            </a: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>
                <a:latin typeface="Comic Sans MS" charset="0"/>
                <a:ea typeface="宋体" charset="0"/>
                <a:cs typeface="宋体" charset="0"/>
              </a:rPr>
              <a:t>Website (esp. announcement page)</a:t>
            </a: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>
                <a:latin typeface="Comic Sans MS" charset="0"/>
                <a:ea typeface="宋体" charset="0"/>
                <a:cs typeface="宋体" charset="0"/>
              </a:rPr>
              <a:t>Handouts include assignments/projects</a:t>
            </a: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>
                <a:latin typeface="Comic Sans MS" charset="0"/>
                <a:ea typeface="宋体" charset="0"/>
                <a:cs typeface="宋体" charset="0"/>
              </a:rPr>
              <a:t>In-class survey</a:t>
            </a: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>
                <a:latin typeface="Comic Sans MS" charset="0"/>
                <a:ea typeface="宋体" charset="0"/>
                <a:cs typeface="宋体" charset="0"/>
              </a:rPr>
              <a:t>Office hours, before &amp; after lectures</a:t>
            </a:r>
          </a:p>
          <a:p>
            <a:pPr marL="533400" indent="-533400">
              <a:buClr>
                <a:srgbClr val="000099"/>
              </a:buClr>
              <a:buSzPct val="75000"/>
              <a:buFont typeface="Wingdings" charset="0"/>
              <a:buAutoNum type="arabicPeriod"/>
              <a:tabLst>
                <a:tab pos="571500" algn="l"/>
                <a:tab pos="1028700" algn="l"/>
                <a:tab pos="1485900" algn="l"/>
                <a:tab pos="1943100" algn="l"/>
                <a:tab pos="2400300" algn="l"/>
                <a:tab pos="2857500" algn="l"/>
                <a:tab pos="3314700" algn="l"/>
                <a:tab pos="3771900" algn="l"/>
                <a:tab pos="4229100" algn="l"/>
                <a:tab pos="4686300" algn="l"/>
                <a:tab pos="5143500" algn="l"/>
                <a:tab pos="5600700" algn="l"/>
                <a:tab pos="6057900" algn="l"/>
                <a:tab pos="6515100" algn="l"/>
                <a:tab pos="6972300" algn="l"/>
                <a:tab pos="7429500" algn="l"/>
                <a:tab pos="7886700" algn="l"/>
                <a:tab pos="8343900" algn="l"/>
                <a:tab pos="8801100" algn="l"/>
                <a:tab pos="9258300" algn="l"/>
              </a:tabLst>
            </a:pPr>
            <a:r>
              <a:rPr lang="en-US" altLang="zh-CN">
                <a:latin typeface="Comic Sans MS" charset="0"/>
                <a:ea typeface="宋体" charset="0"/>
                <a:cs typeface="宋体" charset="0"/>
              </a:rPr>
              <a:t>Quizzes &amp; Exam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54274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1406A62B-9814-B74D-AE02-99F446ADA9FC}" type="slidenum">
              <a:rPr lang="en-US" sz="1200">
                <a:latin typeface="Comic Sans MS" charset="0"/>
              </a:rPr>
              <a:pPr/>
              <a:t>20</a:t>
            </a:fld>
            <a:endParaRPr lang="en-US" sz="1200">
              <a:latin typeface="Comic Sans MS" charset="0"/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590800"/>
            <a:ext cx="7772400" cy="1143000"/>
          </a:xfrm>
        </p:spPr>
        <p:txBody>
          <a:bodyPr/>
          <a:lstStyle/>
          <a:p>
            <a:r>
              <a:rPr lang="en-US" sz="4800" i="1">
                <a:latin typeface="Comic Sans MS" charset="0"/>
              </a:rPr>
              <a:t>Questions?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56322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39DA5D41-C657-7E46-9564-BD75D01B173E}" type="slidenum">
              <a:rPr lang="en-US" sz="1200">
                <a:latin typeface="Comic Sans MS" charset="0"/>
              </a:rPr>
              <a:pPr/>
              <a:t>21</a:t>
            </a:fld>
            <a:endParaRPr lang="en-US" sz="1200">
              <a:latin typeface="Comic Sans MS" charset="0"/>
            </a:endParaRPr>
          </a:p>
        </p:txBody>
      </p:sp>
      <p:sp>
        <p:nvSpPr>
          <p:cNvPr id="5632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14400"/>
          </a:xfrm>
        </p:spPr>
        <p:txBody>
          <a:bodyPr/>
          <a:lstStyle/>
          <a:p>
            <a:r>
              <a:rPr lang="en-US" i="1">
                <a:latin typeface="Comic Sans MS" charset="0"/>
              </a:rPr>
              <a:t>Class Registration and</a:t>
            </a:r>
            <a:br>
              <a:rPr lang="en-US" i="1">
                <a:latin typeface="Comic Sans MS" charset="0"/>
              </a:rPr>
            </a:br>
            <a:r>
              <a:rPr lang="en-US" i="1">
                <a:latin typeface="Comic Sans MS" charset="0"/>
              </a:rPr>
              <a:t>Questionaire</a:t>
            </a:r>
          </a:p>
        </p:txBody>
      </p:sp>
      <p:sp>
        <p:nvSpPr>
          <p:cNvPr id="5632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3886200"/>
          </a:xfrm>
        </p:spPr>
        <p:txBody>
          <a:bodyPr/>
          <a:lstStyle/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Information about you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Background Survey </a:t>
            </a:r>
          </a:p>
          <a:p>
            <a:pPr marL="457200" indent="-457200">
              <a:buClr>
                <a:srgbClr val="000099"/>
              </a:buClr>
              <a:buSzPct val="75000"/>
              <a:buFont typeface="Wingdings" charset="0"/>
              <a:buChar char="v"/>
            </a:pPr>
            <a:endParaRPr lang="en-US">
              <a:latin typeface="Comic Sans MS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CSci4211:                     Logistics </a:t>
            </a:r>
          </a:p>
        </p:txBody>
      </p:sp>
      <p:sp>
        <p:nvSpPr>
          <p:cNvPr id="5837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7A923AB3-3905-D24A-9EDE-02ED0B86212A}" type="slidenum">
              <a:rPr lang="en-US" sz="1200">
                <a:latin typeface="Comic Sans MS" charset="0"/>
              </a:rPr>
              <a:pPr/>
              <a:t>22</a:t>
            </a:fld>
            <a:endParaRPr lang="en-US" sz="1200">
              <a:latin typeface="Comic Sans MS" charset="0"/>
            </a:endParaRPr>
          </a:p>
        </p:txBody>
      </p:sp>
      <p:sp>
        <p:nvSpPr>
          <p:cNvPr id="58371" name="Rectangle 2050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7772400" cy="914400"/>
          </a:xfrm>
        </p:spPr>
        <p:txBody>
          <a:bodyPr/>
          <a:lstStyle/>
          <a:p>
            <a:r>
              <a:rPr lang="en-US" sz="3600">
                <a:latin typeface="Comic Sans MS" charset="0"/>
              </a:rPr>
              <a:t>Tips for Doing Well</a:t>
            </a:r>
          </a:p>
        </p:txBody>
      </p:sp>
      <p:sp>
        <p:nvSpPr>
          <p:cNvPr id="58372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458200" cy="5410200"/>
          </a:xfrm>
        </p:spPr>
        <p:txBody>
          <a:bodyPr/>
          <a:lstStyle/>
          <a:p>
            <a:pPr marL="457200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Realize what is involved </a:t>
            </a: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and prepare ahead</a:t>
            </a:r>
            <a:endParaRPr lang="en-US" sz="2400">
              <a:latin typeface="Comic Sans MS" charset="0"/>
            </a:endParaRPr>
          </a:p>
          <a:p>
            <a:pPr marL="457200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Stay current and get feedback</a:t>
            </a:r>
          </a:p>
          <a:p>
            <a:pPr marL="457200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Ask and answer questions </a:t>
            </a:r>
          </a:p>
          <a:p>
            <a:pPr marL="457200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"/>
            </a:pPr>
            <a:r>
              <a:rPr lang="en-GB" altLang="zh-CN" sz="2400">
                <a:latin typeface="Comic Sans MS" charset="0"/>
                <a:ea typeface="宋体" charset="0"/>
                <a:cs typeface="宋体" charset="0"/>
              </a:rPr>
              <a:t>Participate in the class</a:t>
            </a:r>
          </a:p>
          <a:p>
            <a:pPr marL="857250" lvl="1" indent="-457200">
              <a:lnSpc>
                <a:spcPct val="90000"/>
              </a:lnSpc>
              <a:buSzPct val="75000"/>
              <a:buFont typeface="Wingdings" charset="0"/>
              <a:buChar char=""/>
            </a:pPr>
            <a:r>
              <a:rPr lang="en-GB" altLang="zh-CN">
                <a:latin typeface="Comic Sans MS" charset="0"/>
                <a:ea typeface="宋体" charset="0"/>
                <a:cs typeface="宋体" charset="0"/>
              </a:rPr>
              <a:t>Extra credit could be available for </a:t>
            </a:r>
            <a:r>
              <a:rPr lang="en-GB" altLang="zh-CN" i="1">
                <a:latin typeface="Comic Sans MS" charset="0"/>
                <a:ea typeface="宋体" charset="0"/>
                <a:cs typeface="宋体" charset="0"/>
              </a:rPr>
              <a:t>in-class participation</a:t>
            </a:r>
            <a:endParaRPr lang="en-US">
              <a:latin typeface="Comic Sans MS" charset="0"/>
            </a:endParaRPr>
          </a:p>
          <a:p>
            <a:pPr marL="457200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Use different learning strategies</a:t>
            </a:r>
          </a:p>
          <a:p>
            <a:pPr marL="457200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Know what to expect from exams</a:t>
            </a:r>
          </a:p>
          <a:p>
            <a:pPr marL="857250" lvl="1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GB" altLang="zh-CN">
                <a:latin typeface="Comic Sans MS" charset="0"/>
                <a:ea typeface="宋体" charset="0"/>
                <a:cs typeface="宋体" charset="0"/>
              </a:rPr>
              <a:t>45% grade comes from exams.</a:t>
            </a:r>
            <a:endParaRPr lang="en-US">
              <a:latin typeface="Comic Sans MS" charset="0"/>
            </a:endParaRPr>
          </a:p>
          <a:p>
            <a:pPr marL="457200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Persist</a:t>
            </a:r>
          </a:p>
          <a:p>
            <a:pPr marL="457200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 sz="2400">
                <a:latin typeface="Comic Sans MS" charset="0"/>
              </a:rPr>
              <a:t>In case of serious difficulties:</a:t>
            </a:r>
          </a:p>
          <a:p>
            <a:pPr marL="857250" lvl="1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</a:pPr>
            <a:r>
              <a:rPr lang="en-US">
                <a:latin typeface="Comic Sans MS" charset="0"/>
              </a:rPr>
              <a:t>Remember you can always withdraw</a:t>
            </a:r>
          </a:p>
          <a:p>
            <a:pPr marL="857250" lvl="1" indent="-457200">
              <a:lnSpc>
                <a:spcPct val="90000"/>
              </a:lnSpc>
              <a:buClr>
                <a:srgbClr val="000099"/>
              </a:buClr>
              <a:buSzPct val="75000"/>
              <a:buFont typeface="Wingdings" charset="0"/>
              <a:buChar char="v"/>
            </a:pPr>
            <a:endParaRPr lang="en-US" sz="800">
              <a:latin typeface="Comic Sans MS" charset="0"/>
            </a:endParaRPr>
          </a:p>
          <a:p>
            <a:pPr marL="457200" indent="-457200">
              <a:lnSpc>
                <a:spcPct val="90000"/>
              </a:lnSpc>
              <a:buClr>
                <a:srgbClr val="000099"/>
              </a:buClr>
              <a:buSzPct val="75000"/>
              <a:buFontTx/>
              <a:buNone/>
            </a:pPr>
            <a:r>
              <a:rPr lang="en-US" sz="2400">
                <a:solidFill>
                  <a:srgbClr val="FF0000"/>
                </a:solidFill>
                <a:latin typeface="Comic Sans MS" charset="0"/>
              </a:rPr>
              <a:t>Attention: </a:t>
            </a:r>
            <a:r>
              <a:rPr lang="en-US" sz="2200">
                <a:solidFill>
                  <a:srgbClr val="0000FF"/>
                </a:solidFill>
                <a:latin typeface="Comic Sans MS" charset="0"/>
              </a:rPr>
              <a:t>students with learning or other disabilities, please notify us ahead of time; special arrangements will be made!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C:\WINDOWS\Application Data\Microsoft\Templates\Blank Presentation.pot</Template>
  <TotalTime>4084</TotalTime>
  <Words>1408</Words>
  <Application>Microsoft Macintosh PowerPoint</Application>
  <PresentationFormat>On-screen Show (4:3)</PresentationFormat>
  <Paragraphs>342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Avenir Book</vt:lpstr>
      <vt:lpstr>Comic Sans MS</vt:lpstr>
      <vt:lpstr>ＭＳ Ｐゴシック</vt:lpstr>
      <vt:lpstr>Times New Roman</vt:lpstr>
      <vt:lpstr>Wingdings</vt:lpstr>
      <vt:lpstr>宋体</vt:lpstr>
      <vt:lpstr>Arial</vt:lpstr>
      <vt:lpstr>Blank Presentation</vt:lpstr>
      <vt:lpstr>CSci4211: Introduction to Computer Networks</vt:lpstr>
      <vt:lpstr>Who Are We </vt:lpstr>
      <vt:lpstr>Who Are We </vt:lpstr>
      <vt:lpstr>Who Are We </vt:lpstr>
      <vt:lpstr>Who Are We </vt:lpstr>
      <vt:lpstr>What is Csci4211 about?</vt:lpstr>
      <vt:lpstr>Course Prerequisite</vt:lpstr>
      <vt:lpstr>Course Materials</vt:lpstr>
      <vt:lpstr>Lecture Notes</vt:lpstr>
      <vt:lpstr>Class Information</vt:lpstr>
      <vt:lpstr>Course Requirements</vt:lpstr>
      <vt:lpstr>“Hands-on” Experiences</vt:lpstr>
      <vt:lpstr>(Reference) Final Letter  Grade Criteria</vt:lpstr>
      <vt:lpstr>Policies and Guidelines</vt:lpstr>
      <vt:lpstr>Course Overview</vt:lpstr>
      <vt:lpstr>Important Dates (Tentative)</vt:lpstr>
      <vt:lpstr>Ways to you reach me</vt:lpstr>
      <vt:lpstr>Ways You Can Reach TAs</vt:lpstr>
      <vt:lpstr>Ways we reach you</vt:lpstr>
      <vt:lpstr>Questions?</vt:lpstr>
      <vt:lpstr>Class Registration and Questionaire</vt:lpstr>
      <vt:lpstr>Tips for Doing Well</vt:lpstr>
    </vt:vector>
  </TitlesOfParts>
  <Company>Stanford University</Company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csci4211: Introduction to Computer Networks</dc:title>
  <dc:creator>Zhi-Li Zhang</dc:creator>
  <cp:lastModifiedBy>Microsoft Office User</cp:lastModifiedBy>
  <cp:revision>183</cp:revision>
  <cp:lastPrinted>2013-08-26T21:35:59Z</cp:lastPrinted>
  <dcterms:created xsi:type="dcterms:W3CDTF">1999-12-30T18:54:40Z</dcterms:created>
  <dcterms:modified xsi:type="dcterms:W3CDTF">2020-01-22T20:10:27Z</dcterms:modified>
</cp:coreProperties>
</file>